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Codec Pro Bold" charset="1" panose="00000600000000000000"/>
      <p:regular r:id="rId21"/>
    </p:embeddedFont>
    <p:embeddedFont>
      <p:font typeface="Codec Pro Ultra-Bold" charset="1" panose="00000700000000000000"/>
      <p:regular r:id="rId22"/>
    </p:embeddedFont>
    <p:embeddedFont>
      <p:font typeface="Open Sans" charset="1" panose="020B0606030504020204"/>
      <p:regular r:id="rId23"/>
    </p:embeddedFont>
    <p:embeddedFont>
      <p:font typeface="Codec Pro"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5C69F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03384" y="-1675084"/>
            <a:ext cx="6000534" cy="3567590"/>
          </a:xfrm>
          <a:custGeom>
            <a:avLst/>
            <a:gdLst/>
            <a:ahLst/>
            <a:cxnLst/>
            <a:rect r="r" b="b" t="t" l="l"/>
            <a:pathLst>
              <a:path h="3567590" w="6000534">
                <a:moveTo>
                  <a:pt x="0" y="0"/>
                </a:moveTo>
                <a:lnTo>
                  <a:pt x="6000534" y="0"/>
                </a:lnTo>
                <a:lnTo>
                  <a:pt x="6000534" y="3567591"/>
                </a:lnTo>
                <a:lnTo>
                  <a:pt x="0" y="35675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12542441" y="859120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741048" y="537816"/>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14180105" y="6181594"/>
            <a:ext cx="6000534" cy="3567590"/>
          </a:xfrm>
          <a:custGeom>
            <a:avLst/>
            <a:gdLst/>
            <a:ahLst/>
            <a:cxnLst/>
            <a:rect r="r" b="b" t="t" l="l"/>
            <a:pathLst>
              <a:path h="3567590" w="6000534">
                <a:moveTo>
                  <a:pt x="0" y="0"/>
                </a:moveTo>
                <a:lnTo>
                  <a:pt x="6000534" y="0"/>
                </a:lnTo>
                <a:lnTo>
                  <a:pt x="6000534" y="3567590"/>
                </a:lnTo>
                <a:lnTo>
                  <a:pt x="0" y="35675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904533" y="-494599"/>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275713" y="4625635"/>
            <a:ext cx="5081972" cy="3021463"/>
          </a:xfrm>
          <a:custGeom>
            <a:avLst/>
            <a:gdLst/>
            <a:ahLst/>
            <a:cxnLst/>
            <a:rect r="r" b="b" t="t" l="l"/>
            <a:pathLst>
              <a:path h="3021463" w="5081972">
                <a:moveTo>
                  <a:pt x="0" y="0"/>
                </a:moveTo>
                <a:lnTo>
                  <a:pt x="5081972" y="0"/>
                </a:lnTo>
                <a:lnTo>
                  <a:pt x="5081972" y="3021463"/>
                </a:lnTo>
                <a:lnTo>
                  <a:pt x="0" y="3021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4960748" y="776013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10800000">
            <a:off x="16481741" y="2654155"/>
            <a:ext cx="5081972" cy="3021463"/>
          </a:xfrm>
          <a:custGeom>
            <a:avLst/>
            <a:gdLst/>
            <a:ahLst/>
            <a:cxnLst/>
            <a:rect r="r" b="b" t="t" l="l"/>
            <a:pathLst>
              <a:path h="3021463" w="5081972">
                <a:moveTo>
                  <a:pt x="0" y="0"/>
                </a:moveTo>
                <a:lnTo>
                  <a:pt x="5081972" y="0"/>
                </a:lnTo>
                <a:lnTo>
                  <a:pt x="5081972" y="3021464"/>
                </a:lnTo>
                <a:lnTo>
                  <a:pt x="0" y="30214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517383" y="3732783"/>
            <a:ext cx="9253234" cy="2940463"/>
          </a:xfrm>
          <a:prstGeom prst="rect">
            <a:avLst/>
          </a:prstGeom>
        </p:spPr>
        <p:txBody>
          <a:bodyPr anchor="t" rtlCol="false" tIns="0" lIns="0" bIns="0" rIns="0">
            <a:spAutoFit/>
          </a:bodyPr>
          <a:lstStyle/>
          <a:p>
            <a:pPr algn="ctr">
              <a:lnSpc>
                <a:spcPts val="10534"/>
              </a:lnSpc>
            </a:pPr>
            <a:r>
              <a:rPr lang="en-US" sz="11206" b="true">
                <a:solidFill>
                  <a:srgbClr val="FFFFFF"/>
                </a:solidFill>
                <a:latin typeface="Codec Pro Bold"/>
                <a:ea typeface="Codec Pro Bold"/>
                <a:cs typeface="Codec Pro Bold"/>
                <a:sym typeface="Codec Pro Bold"/>
              </a:rPr>
              <a:t>TRABAJO FINAL</a:t>
            </a:r>
          </a:p>
        </p:txBody>
      </p:sp>
      <p:grpSp>
        <p:nvGrpSpPr>
          <p:cNvPr name="Group 11" id="11"/>
          <p:cNvGrpSpPr/>
          <p:nvPr/>
        </p:nvGrpSpPr>
        <p:grpSpPr>
          <a:xfrm rot="0">
            <a:off x="5531401" y="7032332"/>
            <a:ext cx="7225199" cy="700433"/>
            <a:chOff x="0" y="0"/>
            <a:chExt cx="1356880" cy="131540"/>
          </a:xfrm>
        </p:grpSpPr>
        <p:sp>
          <p:nvSpPr>
            <p:cNvPr name="Freeform 12" id="12"/>
            <p:cNvSpPr/>
            <p:nvPr/>
          </p:nvSpPr>
          <p:spPr>
            <a:xfrm flipH="false" flipV="false" rot="0">
              <a:off x="0" y="0"/>
              <a:ext cx="1356880" cy="131540"/>
            </a:xfrm>
            <a:custGeom>
              <a:avLst/>
              <a:gdLst/>
              <a:ahLst/>
              <a:cxnLst/>
              <a:rect r="r" b="b" t="t" l="l"/>
              <a:pathLst>
                <a:path h="131540" w="1356880">
                  <a:moveTo>
                    <a:pt x="65770" y="0"/>
                  </a:moveTo>
                  <a:lnTo>
                    <a:pt x="1291110" y="0"/>
                  </a:lnTo>
                  <a:cubicBezTo>
                    <a:pt x="1327434" y="0"/>
                    <a:pt x="1356880" y="29446"/>
                    <a:pt x="1356880" y="65770"/>
                  </a:cubicBezTo>
                  <a:lnTo>
                    <a:pt x="1356880" y="65770"/>
                  </a:lnTo>
                  <a:cubicBezTo>
                    <a:pt x="1356880" y="83213"/>
                    <a:pt x="1349951" y="99942"/>
                    <a:pt x="1337617" y="112276"/>
                  </a:cubicBezTo>
                  <a:cubicBezTo>
                    <a:pt x="1325283" y="124611"/>
                    <a:pt x="1308554" y="131540"/>
                    <a:pt x="1291110" y="131540"/>
                  </a:cubicBezTo>
                  <a:lnTo>
                    <a:pt x="65770" y="131540"/>
                  </a:lnTo>
                  <a:cubicBezTo>
                    <a:pt x="29446" y="131540"/>
                    <a:pt x="0" y="102094"/>
                    <a:pt x="0" y="65770"/>
                  </a:cubicBezTo>
                  <a:lnTo>
                    <a:pt x="0" y="65770"/>
                  </a:lnTo>
                  <a:cubicBezTo>
                    <a:pt x="0" y="29446"/>
                    <a:pt x="29446" y="0"/>
                    <a:pt x="65770" y="0"/>
                  </a:cubicBezTo>
                  <a:close/>
                </a:path>
              </a:pathLst>
            </a:custGeom>
            <a:solidFill>
              <a:srgbClr val="5666F8"/>
            </a:solidFill>
            <a:ln cap="rnd">
              <a:noFill/>
              <a:prstDash val="solid"/>
              <a:round/>
            </a:ln>
          </p:spPr>
        </p:sp>
        <p:sp>
          <p:nvSpPr>
            <p:cNvPr name="TextBox 13" id="13"/>
            <p:cNvSpPr txBox="true"/>
            <p:nvPr/>
          </p:nvSpPr>
          <p:spPr>
            <a:xfrm>
              <a:off x="0" y="-9525"/>
              <a:ext cx="1356880" cy="141065"/>
            </a:xfrm>
            <a:prstGeom prst="rect">
              <a:avLst/>
            </a:prstGeom>
          </p:spPr>
          <p:txBody>
            <a:bodyPr anchor="ctr" rtlCol="false" tIns="31918" lIns="31918" bIns="31918" rIns="31918"/>
            <a:lstStyle/>
            <a:p>
              <a:pPr algn="ctr">
                <a:lnSpc>
                  <a:spcPts val="1381"/>
                </a:lnSpc>
              </a:pPr>
            </a:p>
          </p:txBody>
        </p:sp>
      </p:grpSp>
      <p:sp>
        <p:nvSpPr>
          <p:cNvPr name="TextBox 14" id="14"/>
          <p:cNvSpPr txBox="true"/>
          <p:nvPr/>
        </p:nvSpPr>
        <p:spPr>
          <a:xfrm rot="0">
            <a:off x="6088300" y="7121046"/>
            <a:ext cx="6111401" cy="639090"/>
          </a:xfrm>
          <a:prstGeom prst="rect">
            <a:avLst/>
          </a:prstGeom>
        </p:spPr>
        <p:txBody>
          <a:bodyPr anchor="t" rtlCol="false" tIns="0" lIns="0" bIns="0" rIns="0">
            <a:spAutoFit/>
          </a:bodyPr>
          <a:lstStyle/>
          <a:p>
            <a:pPr algn="ctr">
              <a:lnSpc>
                <a:spcPts val="2276"/>
              </a:lnSpc>
            </a:pPr>
            <a:r>
              <a:rPr lang="en-US" b="true" sz="2422" spc="67">
                <a:solidFill>
                  <a:srgbClr val="E4E5EC"/>
                </a:solidFill>
                <a:latin typeface="Codec Pro Bold"/>
                <a:ea typeface="Codec Pro Bold"/>
                <a:cs typeface="Codec Pro Bold"/>
                <a:sym typeface="Codec Pro Bold"/>
              </a:rPr>
              <a:t>INTEGRANTES: DA SILVA CATELA JUSTO</a:t>
            </a:r>
          </a:p>
          <a:p>
            <a:pPr algn="ctr">
              <a:lnSpc>
                <a:spcPts val="2276"/>
              </a:lnSpc>
            </a:pPr>
            <a:r>
              <a:rPr lang="en-US" b="true" sz="2422" spc="67">
                <a:solidFill>
                  <a:srgbClr val="E4E5EC"/>
                </a:solidFill>
                <a:latin typeface="Codec Pro Bold"/>
                <a:ea typeface="Codec Pro Bold"/>
                <a:cs typeface="Codec Pro Bold"/>
                <a:sym typeface="Codec Pro Bold"/>
              </a:rPr>
              <a:t>CIORCIARI CONRADO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D2DB"/>
        </a:solidFill>
      </p:bgPr>
    </p:bg>
    <p:spTree>
      <p:nvGrpSpPr>
        <p:cNvPr id="1" name=""/>
        <p:cNvGrpSpPr/>
        <p:nvPr/>
      </p:nvGrpSpPr>
      <p:grpSpPr>
        <a:xfrm>
          <a:off x="0" y="0"/>
          <a:ext cx="0" cy="0"/>
          <a:chOff x="0" y="0"/>
          <a:chExt cx="0" cy="0"/>
        </a:xfrm>
      </p:grpSpPr>
      <p:grpSp>
        <p:nvGrpSpPr>
          <p:cNvPr name="Group 2" id="2"/>
          <p:cNvGrpSpPr/>
          <p:nvPr/>
        </p:nvGrpSpPr>
        <p:grpSpPr>
          <a:xfrm rot="0">
            <a:off x="2725388" y="1716698"/>
            <a:ext cx="1070406" cy="276506"/>
            <a:chOff x="0" y="0"/>
            <a:chExt cx="484642" cy="125192"/>
          </a:xfrm>
        </p:grpSpPr>
        <p:sp>
          <p:nvSpPr>
            <p:cNvPr name="Freeform 3" id="3"/>
            <p:cNvSpPr/>
            <p:nvPr/>
          </p:nvSpPr>
          <p:spPr>
            <a:xfrm flipH="false" flipV="false" rot="0">
              <a:off x="0" y="0"/>
              <a:ext cx="484642" cy="125192"/>
            </a:xfrm>
            <a:custGeom>
              <a:avLst/>
              <a:gdLst/>
              <a:ahLst/>
              <a:cxnLst/>
              <a:rect r="r" b="b" t="t" l="l"/>
              <a:pathLst>
                <a:path h="125192" w="484642">
                  <a:moveTo>
                    <a:pt x="62596" y="0"/>
                  </a:moveTo>
                  <a:lnTo>
                    <a:pt x="422046" y="0"/>
                  </a:lnTo>
                  <a:cubicBezTo>
                    <a:pt x="456617" y="0"/>
                    <a:pt x="484642" y="28025"/>
                    <a:pt x="484642" y="62596"/>
                  </a:cubicBezTo>
                  <a:lnTo>
                    <a:pt x="484642" y="62596"/>
                  </a:lnTo>
                  <a:cubicBezTo>
                    <a:pt x="484642" y="97167"/>
                    <a:pt x="456617" y="125192"/>
                    <a:pt x="422046" y="125192"/>
                  </a:cubicBezTo>
                  <a:lnTo>
                    <a:pt x="62596" y="125192"/>
                  </a:lnTo>
                  <a:cubicBezTo>
                    <a:pt x="28025" y="125192"/>
                    <a:pt x="0" y="97167"/>
                    <a:pt x="0" y="62596"/>
                  </a:cubicBezTo>
                  <a:lnTo>
                    <a:pt x="0" y="62596"/>
                  </a:lnTo>
                  <a:cubicBezTo>
                    <a:pt x="0" y="28025"/>
                    <a:pt x="28025" y="0"/>
                    <a:pt x="62596" y="0"/>
                  </a:cubicBezTo>
                  <a:close/>
                </a:path>
              </a:pathLst>
            </a:custGeom>
            <a:solidFill>
              <a:srgbClr val="15193E"/>
            </a:solidFill>
            <a:ln cap="sq">
              <a:noFill/>
              <a:prstDash val="solid"/>
              <a:miter/>
            </a:ln>
          </p:spPr>
        </p:sp>
        <p:sp>
          <p:nvSpPr>
            <p:cNvPr name="TextBox 4" id="4"/>
            <p:cNvSpPr txBox="true"/>
            <p:nvPr/>
          </p:nvSpPr>
          <p:spPr>
            <a:xfrm>
              <a:off x="0" y="-9525"/>
              <a:ext cx="484642" cy="134717"/>
            </a:xfrm>
            <a:prstGeom prst="rect">
              <a:avLst/>
            </a:prstGeom>
          </p:spPr>
          <p:txBody>
            <a:bodyPr anchor="ctr" rtlCol="false" tIns="31918" lIns="31918" bIns="31918" rIns="31918"/>
            <a:lstStyle/>
            <a:p>
              <a:pPr algn="ctr">
                <a:lnSpc>
                  <a:spcPts val="1381"/>
                </a:lnSpc>
              </a:pPr>
            </a:p>
          </p:txBody>
        </p:sp>
      </p:grpSp>
      <p:sp>
        <p:nvSpPr>
          <p:cNvPr name="Freeform 5" id="5"/>
          <p:cNvSpPr/>
          <p:nvPr/>
        </p:nvSpPr>
        <p:spPr>
          <a:xfrm flipH="false" flipV="false" rot="0">
            <a:off x="-178431" y="-230885"/>
            <a:ext cx="18644862" cy="8466714"/>
          </a:xfrm>
          <a:custGeom>
            <a:avLst/>
            <a:gdLst/>
            <a:ahLst/>
            <a:cxnLst/>
            <a:rect r="r" b="b" t="t" l="l"/>
            <a:pathLst>
              <a:path h="8466714" w="18644862">
                <a:moveTo>
                  <a:pt x="0" y="0"/>
                </a:moveTo>
                <a:lnTo>
                  <a:pt x="18644862" y="0"/>
                </a:lnTo>
                <a:lnTo>
                  <a:pt x="18644862" y="8466714"/>
                </a:lnTo>
                <a:lnTo>
                  <a:pt x="0" y="8466714"/>
                </a:lnTo>
                <a:lnTo>
                  <a:pt x="0" y="0"/>
                </a:lnTo>
                <a:close/>
              </a:path>
            </a:pathLst>
          </a:custGeom>
          <a:blipFill>
            <a:blip r:embed="rId2">
              <a:extLst>
                <a:ext uri="{96DAC541-7B7A-43D3-8B79-37D633B846F1}">
                  <asvg:svgBlip xmlns:asvg="http://schemas.microsoft.com/office/drawing/2016/SVG/main" r:embed="rId3"/>
                </a:ext>
              </a:extLst>
            </a:blip>
            <a:stretch>
              <a:fillRect l="0" t="-120213" r="0" b="0"/>
            </a:stretch>
          </a:blipFill>
        </p:spPr>
      </p:sp>
      <p:grpSp>
        <p:nvGrpSpPr>
          <p:cNvPr name="Group 6" id="6"/>
          <p:cNvGrpSpPr/>
          <p:nvPr/>
        </p:nvGrpSpPr>
        <p:grpSpPr>
          <a:xfrm rot="0">
            <a:off x="807825" y="1028700"/>
            <a:ext cx="16672349" cy="8229600"/>
            <a:chOff x="0" y="0"/>
            <a:chExt cx="4391071" cy="2167467"/>
          </a:xfrm>
        </p:grpSpPr>
        <p:sp>
          <p:nvSpPr>
            <p:cNvPr name="Freeform 7" id="7"/>
            <p:cNvSpPr/>
            <p:nvPr/>
          </p:nvSpPr>
          <p:spPr>
            <a:xfrm flipH="false" flipV="false" rot="0">
              <a:off x="0" y="0"/>
              <a:ext cx="4391072" cy="2167467"/>
            </a:xfrm>
            <a:custGeom>
              <a:avLst/>
              <a:gdLst/>
              <a:ahLst/>
              <a:cxnLst/>
              <a:rect r="r" b="b" t="t" l="l"/>
              <a:pathLst>
                <a:path h="2167467" w="4391072">
                  <a:moveTo>
                    <a:pt x="14859" y="0"/>
                  </a:moveTo>
                  <a:lnTo>
                    <a:pt x="4376212" y="0"/>
                  </a:lnTo>
                  <a:cubicBezTo>
                    <a:pt x="4380153" y="0"/>
                    <a:pt x="4383933" y="1566"/>
                    <a:pt x="4386719" y="4352"/>
                  </a:cubicBezTo>
                  <a:cubicBezTo>
                    <a:pt x="4389506" y="7139"/>
                    <a:pt x="4391072" y="10918"/>
                    <a:pt x="4391072" y="14859"/>
                  </a:cubicBezTo>
                  <a:lnTo>
                    <a:pt x="4391072" y="2152607"/>
                  </a:lnTo>
                  <a:cubicBezTo>
                    <a:pt x="4391072" y="2160814"/>
                    <a:pt x="4384419" y="2167467"/>
                    <a:pt x="4376212" y="2167467"/>
                  </a:cubicBezTo>
                  <a:lnTo>
                    <a:pt x="14859" y="2167467"/>
                  </a:lnTo>
                  <a:cubicBezTo>
                    <a:pt x="10918" y="2167467"/>
                    <a:pt x="7139" y="2165901"/>
                    <a:pt x="4352" y="2163114"/>
                  </a:cubicBezTo>
                  <a:cubicBezTo>
                    <a:pt x="1566" y="2160328"/>
                    <a:pt x="0" y="2156548"/>
                    <a:pt x="0" y="2152607"/>
                  </a:cubicBezTo>
                  <a:lnTo>
                    <a:pt x="0" y="14859"/>
                  </a:lnTo>
                  <a:cubicBezTo>
                    <a:pt x="0" y="10918"/>
                    <a:pt x="1566" y="7139"/>
                    <a:pt x="4352" y="4352"/>
                  </a:cubicBezTo>
                  <a:cubicBezTo>
                    <a:pt x="7139" y="1566"/>
                    <a:pt x="10918" y="0"/>
                    <a:pt x="14859" y="0"/>
                  </a:cubicBezTo>
                  <a:close/>
                </a:path>
              </a:pathLst>
            </a:custGeom>
            <a:solidFill>
              <a:srgbClr val="E4E5EC"/>
            </a:solidFill>
          </p:spPr>
        </p:sp>
        <p:sp>
          <p:nvSpPr>
            <p:cNvPr name="TextBox 8" id="8"/>
            <p:cNvSpPr txBox="true"/>
            <p:nvPr/>
          </p:nvSpPr>
          <p:spPr>
            <a:xfrm>
              <a:off x="0" y="-38100"/>
              <a:ext cx="4391071"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203917" y="1783373"/>
            <a:ext cx="11236217" cy="915755"/>
          </a:xfrm>
          <a:prstGeom prst="rect">
            <a:avLst/>
          </a:prstGeom>
        </p:spPr>
        <p:txBody>
          <a:bodyPr anchor="t" rtlCol="false" tIns="0" lIns="0" bIns="0" rIns="0">
            <a:spAutoFit/>
          </a:bodyPr>
          <a:lstStyle/>
          <a:p>
            <a:pPr algn="l">
              <a:lnSpc>
                <a:spcPts val="6058"/>
              </a:lnSpc>
            </a:pPr>
            <a:r>
              <a:rPr lang="en-US" sz="6444" b="true">
                <a:solidFill>
                  <a:srgbClr val="15193E"/>
                </a:solidFill>
                <a:latin typeface="Codec Pro Ultra-Bold"/>
                <a:ea typeface="Codec Pro Ultra-Bold"/>
                <a:cs typeface="Codec Pro Ultra-Bold"/>
                <a:sym typeface="Codec Pro Ultra-Bold"/>
              </a:rPr>
              <a:t>PROBLEMATICA A RESOLVER</a:t>
            </a:r>
          </a:p>
        </p:txBody>
      </p:sp>
      <p:sp>
        <p:nvSpPr>
          <p:cNvPr name="Freeform 10" id="10"/>
          <p:cNvSpPr/>
          <p:nvPr/>
        </p:nvSpPr>
        <p:spPr>
          <a:xfrm flipH="false" flipV="false" rot="0">
            <a:off x="-651470" y="-757964"/>
            <a:ext cx="3655283" cy="2173232"/>
          </a:xfrm>
          <a:custGeom>
            <a:avLst/>
            <a:gdLst/>
            <a:ahLst/>
            <a:cxnLst/>
            <a:rect r="r" b="b" t="t" l="l"/>
            <a:pathLst>
              <a:path h="2173232" w="3655283">
                <a:moveTo>
                  <a:pt x="0" y="0"/>
                </a:moveTo>
                <a:lnTo>
                  <a:pt x="3655283" y="0"/>
                </a:lnTo>
                <a:lnTo>
                  <a:pt x="3655283" y="2173232"/>
                </a:lnTo>
                <a:lnTo>
                  <a:pt x="0" y="2173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94806" y="659463"/>
            <a:ext cx="3484317" cy="2071585"/>
          </a:xfrm>
          <a:custGeom>
            <a:avLst/>
            <a:gdLst/>
            <a:ahLst/>
            <a:cxnLst/>
            <a:rect r="r" b="b" t="t" l="l"/>
            <a:pathLst>
              <a:path h="2071585" w="3484317">
                <a:moveTo>
                  <a:pt x="0" y="0"/>
                </a:moveTo>
                <a:lnTo>
                  <a:pt x="3484317" y="0"/>
                </a:lnTo>
                <a:lnTo>
                  <a:pt x="3484317" y="2071585"/>
                </a:lnTo>
                <a:lnTo>
                  <a:pt x="0" y="20715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113293" y="8973379"/>
            <a:ext cx="3484317" cy="2071585"/>
          </a:xfrm>
          <a:custGeom>
            <a:avLst/>
            <a:gdLst/>
            <a:ahLst/>
            <a:cxnLst/>
            <a:rect r="r" b="b" t="t" l="l"/>
            <a:pathLst>
              <a:path h="2071585" w="3484317">
                <a:moveTo>
                  <a:pt x="0" y="0"/>
                </a:moveTo>
                <a:lnTo>
                  <a:pt x="3484317" y="0"/>
                </a:lnTo>
                <a:lnTo>
                  <a:pt x="3484317" y="2071585"/>
                </a:lnTo>
                <a:lnTo>
                  <a:pt x="0" y="2071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027523" y="7552462"/>
            <a:ext cx="3655283" cy="2173232"/>
          </a:xfrm>
          <a:custGeom>
            <a:avLst/>
            <a:gdLst/>
            <a:ahLst/>
            <a:cxnLst/>
            <a:rect r="r" b="b" t="t" l="l"/>
            <a:pathLst>
              <a:path h="2173232" w="3655283">
                <a:moveTo>
                  <a:pt x="0" y="0"/>
                </a:moveTo>
                <a:lnTo>
                  <a:pt x="3655283" y="0"/>
                </a:lnTo>
                <a:lnTo>
                  <a:pt x="3655283" y="2173231"/>
                </a:lnTo>
                <a:lnTo>
                  <a:pt x="0" y="217323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1603997" y="2995574"/>
            <a:ext cx="15251454" cy="1579928"/>
          </a:xfrm>
          <a:prstGeom prst="rect">
            <a:avLst/>
          </a:prstGeom>
        </p:spPr>
        <p:txBody>
          <a:bodyPr anchor="t" rtlCol="false" tIns="0" lIns="0" bIns="0" rIns="0">
            <a:spAutoFit/>
          </a:bodyPr>
          <a:lstStyle/>
          <a:p>
            <a:pPr algn="just">
              <a:lnSpc>
                <a:spcPts val="4267"/>
              </a:lnSpc>
              <a:spcBef>
                <a:spcPct val="0"/>
              </a:spcBef>
            </a:pPr>
            <a:r>
              <a:rPr lang="en-US" sz="3048">
                <a:solidFill>
                  <a:srgbClr val="15193E"/>
                </a:solidFill>
                <a:latin typeface="Open Sans"/>
                <a:ea typeface="Open Sans"/>
                <a:cs typeface="Open Sans"/>
                <a:sym typeface="Open Sans"/>
              </a:rPr>
              <a:t>El objetivo del proyecto es desarrollar un sistema capaz de obtener información de posicionamiento mediante GPS y visualizar datos y estados relevantes en una matriz LED controlada por un microcontrolador ESP32.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E5EC"/>
        </a:solidFill>
      </p:bgPr>
    </p:bg>
    <p:spTree>
      <p:nvGrpSpPr>
        <p:cNvPr id="1" name=""/>
        <p:cNvGrpSpPr/>
        <p:nvPr/>
      </p:nvGrpSpPr>
      <p:grpSpPr>
        <a:xfrm>
          <a:off x="0" y="0"/>
          <a:ext cx="0" cy="0"/>
          <a:chOff x="0" y="0"/>
          <a:chExt cx="0" cy="0"/>
        </a:xfrm>
      </p:grpSpPr>
      <p:sp>
        <p:nvSpPr>
          <p:cNvPr name="Freeform 2" id="2"/>
          <p:cNvSpPr/>
          <p:nvPr/>
        </p:nvSpPr>
        <p:spPr>
          <a:xfrm flipH="false" flipV="false" rot="0">
            <a:off x="-139536"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4315" y="479227"/>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00792" y="-422617"/>
            <a:ext cx="2362646" cy="1404701"/>
          </a:xfrm>
          <a:custGeom>
            <a:avLst/>
            <a:gdLst/>
            <a:ahLst/>
            <a:cxnLst/>
            <a:rect r="r" b="b" t="t" l="l"/>
            <a:pathLst>
              <a:path h="1404701" w="2362646">
                <a:moveTo>
                  <a:pt x="0" y="0"/>
                </a:moveTo>
                <a:lnTo>
                  <a:pt x="2362647" y="0"/>
                </a:lnTo>
                <a:lnTo>
                  <a:pt x="2362647"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39536" y="9177967"/>
            <a:ext cx="2789693" cy="1658599"/>
          </a:xfrm>
          <a:custGeom>
            <a:avLst/>
            <a:gdLst/>
            <a:ahLst/>
            <a:cxnLst/>
            <a:rect r="r" b="b" t="t" l="l"/>
            <a:pathLst>
              <a:path h="1658599" w="2789693">
                <a:moveTo>
                  <a:pt x="0" y="1658599"/>
                </a:moveTo>
                <a:lnTo>
                  <a:pt x="2789693" y="1658599"/>
                </a:lnTo>
                <a:lnTo>
                  <a:pt x="2789693" y="0"/>
                </a:lnTo>
                <a:lnTo>
                  <a:pt x="0" y="0"/>
                </a:lnTo>
                <a:lnTo>
                  <a:pt x="0"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1214315" y="8234368"/>
            <a:ext cx="2789693" cy="1658599"/>
          </a:xfrm>
          <a:custGeom>
            <a:avLst/>
            <a:gdLst/>
            <a:ahLst/>
            <a:cxnLst/>
            <a:rect r="r" b="b" t="t" l="l"/>
            <a:pathLst>
              <a:path h="1658599" w="2789693">
                <a:moveTo>
                  <a:pt x="0" y="1658599"/>
                </a:moveTo>
                <a:lnTo>
                  <a:pt x="2789693" y="1658599"/>
                </a:lnTo>
                <a:lnTo>
                  <a:pt x="2789693" y="0"/>
                </a:lnTo>
                <a:lnTo>
                  <a:pt x="0" y="0"/>
                </a:lnTo>
                <a:lnTo>
                  <a:pt x="0"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true" rot="0">
            <a:off x="-1000792" y="9238143"/>
            <a:ext cx="2362646" cy="1404701"/>
          </a:xfrm>
          <a:custGeom>
            <a:avLst/>
            <a:gdLst/>
            <a:ahLst/>
            <a:cxnLst/>
            <a:rect r="r" b="b" t="t" l="l"/>
            <a:pathLst>
              <a:path h="1404701" w="2362646">
                <a:moveTo>
                  <a:pt x="0" y="1404701"/>
                </a:moveTo>
                <a:lnTo>
                  <a:pt x="2362647" y="1404701"/>
                </a:lnTo>
                <a:lnTo>
                  <a:pt x="2362647" y="0"/>
                </a:lnTo>
                <a:lnTo>
                  <a:pt x="0" y="0"/>
                </a:lnTo>
                <a:lnTo>
                  <a:pt x="0"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618469" y="1436049"/>
            <a:ext cx="9910716" cy="925703"/>
          </a:xfrm>
          <a:prstGeom prst="rect">
            <a:avLst/>
          </a:prstGeom>
        </p:spPr>
        <p:txBody>
          <a:bodyPr anchor="t" rtlCol="false" tIns="0" lIns="0" bIns="0" rIns="0">
            <a:spAutoFit/>
          </a:bodyPr>
          <a:lstStyle/>
          <a:p>
            <a:pPr algn="l">
              <a:lnSpc>
                <a:spcPts val="6015"/>
              </a:lnSpc>
            </a:pPr>
            <a:r>
              <a:rPr lang="en-US" sz="6399" b="true">
                <a:solidFill>
                  <a:srgbClr val="15193E"/>
                </a:solidFill>
                <a:latin typeface="Codec Pro Ultra-Bold"/>
                <a:ea typeface="Codec Pro Ultra-Bold"/>
                <a:cs typeface="Codec Pro Ultra-Bold"/>
                <a:sym typeface="Codec Pro Ultra-Bold"/>
              </a:rPr>
              <a:t>OBJETIVOS ESPECÍFICOS</a:t>
            </a:r>
          </a:p>
        </p:txBody>
      </p:sp>
      <p:sp>
        <p:nvSpPr>
          <p:cNvPr name="TextBox 9" id="9"/>
          <p:cNvSpPr txBox="true"/>
          <p:nvPr/>
        </p:nvSpPr>
        <p:spPr>
          <a:xfrm rot="0">
            <a:off x="1575378" y="2580827"/>
            <a:ext cx="12202359" cy="4780280"/>
          </a:xfrm>
          <a:prstGeom prst="rect">
            <a:avLst/>
          </a:prstGeom>
        </p:spPr>
        <p:txBody>
          <a:bodyPr anchor="t" rtlCol="false" tIns="0" lIns="0" bIns="0" rIns="0">
            <a:spAutoFit/>
          </a:bodyPr>
          <a:lstStyle/>
          <a:p>
            <a:pPr algn="l" marL="658496" indent="-329248" lvl="1">
              <a:lnSpc>
                <a:spcPts val="4270"/>
              </a:lnSpc>
              <a:buFont typeface="Arial"/>
              <a:buChar char="•"/>
            </a:pPr>
            <a:r>
              <a:rPr lang="en-US" sz="3050">
                <a:solidFill>
                  <a:srgbClr val="15193E"/>
                </a:solidFill>
                <a:latin typeface="Open Sans"/>
                <a:ea typeface="Open Sans"/>
                <a:cs typeface="Open Sans"/>
                <a:sym typeface="Open Sans"/>
              </a:rPr>
              <a:t>Realizar una interfaz de un módulo GPS mediante UART-</a:t>
            </a:r>
          </a:p>
          <a:p>
            <a:pPr algn="l">
              <a:lnSpc>
                <a:spcPts val="4270"/>
              </a:lnSpc>
            </a:pPr>
          </a:p>
          <a:p>
            <a:pPr algn="l" marL="658496" indent="-329248" lvl="1">
              <a:lnSpc>
                <a:spcPts val="4270"/>
              </a:lnSpc>
              <a:buFont typeface="Arial"/>
              <a:buChar char="•"/>
            </a:pPr>
            <a:r>
              <a:rPr lang="en-US" sz="3050">
                <a:solidFill>
                  <a:srgbClr val="15193E"/>
                </a:solidFill>
                <a:latin typeface="Open Sans"/>
                <a:ea typeface="Open Sans"/>
                <a:cs typeface="Open Sans"/>
                <a:sym typeface="Open Sans"/>
              </a:rPr>
              <a:t>Procesar datos de latitud, longitud, altitud y velocidad.</a:t>
            </a:r>
          </a:p>
          <a:p>
            <a:pPr algn="l">
              <a:lnSpc>
                <a:spcPts val="4270"/>
              </a:lnSpc>
            </a:pPr>
          </a:p>
          <a:p>
            <a:pPr algn="l" marL="658496" indent="-329248" lvl="1">
              <a:lnSpc>
                <a:spcPts val="4270"/>
              </a:lnSpc>
              <a:buFont typeface="Arial"/>
              <a:buChar char="•"/>
            </a:pPr>
            <a:r>
              <a:rPr lang="en-US" sz="3050">
                <a:solidFill>
                  <a:srgbClr val="15193E"/>
                </a:solidFill>
                <a:latin typeface="Open Sans"/>
                <a:ea typeface="Open Sans"/>
                <a:cs typeface="Open Sans"/>
                <a:sym typeface="Open Sans"/>
              </a:rPr>
              <a:t>Mostrar información en una matriz LED.</a:t>
            </a:r>
          </a:p>
          <a:p>
            <a:pPr algn="l">
              <a:lnSpc>
                <a:spcPts val="4270"/>
              </a:lnSpc>
            </a:pPr>
          </a:p>
          <a:p>
            <a:pPr algn="l" marL="658496" indent="-329248" lvl="1">
              <a:lnSpc>
                <a:spcPts val="4270"/>
              </a:lnSpc>
              <a:buFont typeface="Arial"/>
              <a:buChar char="•"/>
            </a:pPr>
            <a:r>
              <a:rPr lang="en-US" sz="3050">
                <a:solidFill>
                  <a:srgbClr val="15193E"/>
                </a:solidFill>
                <a:latin typeface="Open Sans"/>
                <a:ea typeface="Open Sans"/>
                <a:cs typeface="Open Sans"/>
                <a:sym typeface="Open Sans"/>
              </a:rPr>
              <a:t>Mostrar la información obtenida por el modulo GPS en pantalla.</a:t>
            </a:r>
          </a:p>
          <a:p>
            <a:pPr algn="l">
              <a:lnSpc>
                <a:spcPts val="4270"/>
              </a:lnSpc>
            </a:pPr>
          </a:p>
          <a:p>
            <a:pPr algn="l" marL="658496" indent="-329248" lvl="1">
              <a:lnSpc>
                <a:spcPts val="4270"/>
              </a:lnSpc>
              <a:buFont typeface="Arial"/>
              <a:buChar char="•"/>
            </a:pPr>
            <a:r>
              <a:rPr lang="en-US" sz="3050">
                <a:solidFill>
                  <a:srgbClr val="15193E"/>
                </a:solidFill>
                <a:latin typeface="Open Sans"/>
                <a:ea typeface="Open Sans"/>
                <a:cs typeface="Open Sans"/>
                <a:sym typeface="Open Sans"/>
              </a:rPr>
              <a:t>Implementar el sistema utilizando ESP-IDF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E5EC"/>
        </a:solidFill>
      </p:bgPr>
    </p:bg>
    <p:spTree>
      <p:nvGrpSpPr>
        <p:cNvPr id="1" name=""/>
        <p:cNvGrpSpPr/>
        <p:nvPr/>
      </p:nvGrpSpPr>
      <p:grpSpPr>
        <a:xfrm>
          <a:off x="0" y="0"/>
          <a:ext cx="0" cy="0"/>
          <a:chOff x="0" y="0"/>
          <a:chExt cx="0" cy="0"/>
        </a:xfrm>
      </p:grpSpPr>
      <p:sp>
        <p:nvSpPr>
          <p:cNvPr name="Freeform 2" id="2"/>
          <p:cNvSpPr/>
          <p:nvPr/>
        </p:nvSpPr>
        <p:spPr>
          <a:xfrm flipH="true" flipV="false" rot="0">
            <a:off x="15682795" y="-549566"/>
            <a:ext cx="2789693" cy="1658599"/>
          </a:xfrm>
          <a:custGeom>
            <a:avLst/>
            <a:gdLst/>
            <a:ahLst/>
            <a:cxnLst/>
            <a:rect r="r" b="b" t="t" l="l"/>
            <a:pathLst>
              <a:path h="1658599" w="2789693">
                <a:moveTo>
                  <a:pt x="2789692" y="0"/>
                </a:moveTo>
                <a:lnTo>
                  <a:pt x="0" y="0"/>
                </a:lnTo>
                <a:lnTo>
                  <a:pt x="0" y="1658599"/>
                </a:lnTo>
                <a:lnTo>
                  <a:pt x="2789692" y="1658599"/>
                </a:lnTo>
                <a:lnTo>
                  <a:pt x="27896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559302" y="451930"/>
            <a:ext cx="2789693" cy="1658599"/>
          </a:xfrm>
          <a:custGeom>
            <a:avLst/>
            <a:gdLst/>
            <a:ahLst/>
            <a:cxnLst/>
            <a:rect r="r" b="b" t="t" l="l"/>
            <a:pathLst>
              <a:path h="1658599" w="2789693">
                <a:moveTo>
                  <a:pt x="2789692" y="0"/>
                </a:moveTo>
                <a:lnTo>
                  <a:pt x="0" y="0"/>
                </a:lnTo>
                <a:lnTo>
                  <a:pt x="0" y="1658600"/>
                </a:lnTo>
                <a:lnTo>
                  <a:pt x="2789692" y="1658600"/>
                </a:lnTo>
                <a:lnTo>
                  <a:pt x="27896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772825" y="-422617"/>
            <a:ext cx="2362646" cy="1404701"/>
          </a:xfrm>
          <a:custGeom>
            <a:avLst/>
            <a:gdLst/>
            <a:ahLst/>
            <a:cxnLst/>
            <a:rect r="r" b="b" t="t" l="l"/>
            <a:pathLst>
              <a:path h="1404701" w="2362646">
                <a:moveTo>
                  <a:pt x="2362646" y="0"/>
                </a:moveTo>
                <a:lnTo>
                  <a:pt x="0" y="0"/>
                </a:lnTo>
                <a:lnTo>
                  <a:pt x="0" y="1404701"/>
                </a:lnTo>
                <a:lnTo>
                  <a:pt x="2362646" y="1404701"/>
                </a:lnTo>
                <a:lnTo>
                  <a:pt x="23626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728698" y="1357430"/>
            <a:ext cx="11689537" cy="1095362"/>
          </a:xfrm>
          <a:prstGeom prst="rect">
            <a:avLst/>
          </a:prstGeom>
        </p:spPr>
        <p:txBody>
          <a:bodyPr anchor="t" rtlCol="false" tIns="0" lIns="0" bIns="0" rIns="0">
            <a:spAutoFit/>
          </a:bodyPr>
          <a:lstStyle/>
          <a:p>
            <a:pPr algn="l">
              <a:lnSpc>
                <a:spcPts val="7241"/>
              </a:lnSpc>
            </a:pPr>
            <a:r>
              <a:rPr lang="en-US" sz="7703" b="true">
                <a:solidFill>
                  <a:srgbClr val="15193E"/>
                </a:solidFill>
                <a:latin typeface="Codec Pro Ultra-Bold"/>
                <a:ea typeface="Codec Pro Ultra-Bold"/>
                <a:cs typeface="Codec Pro Ultra-Bold"/>
                <a:sym typeface="Codec Pro Ultra-Bold"/>
              </a:rPr>
              <a:t>HARDWARE UTILIZADO</a:t>
            </a:r>
          </a:p>
        </p:txBody>
      </p:sp>
      <p:sp>
        <p:nvSpPr>
          <p:cNvPr name="Freeform 6" id="6"/>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28700" y="3677284"/>
            <a:ext cx="14359051" cy="5342257"/>
          </a:xfrm>
          <a:prstGeom prst="rect">
            <a:avLst/>
          </a:prstGeom>
        </p:spPr>
        <p:txBody>
          <a:bodyPr anchor="t" rtlCol="false" tIns="0" lIns="0" bIns="0" rIns="0">
            <a:spAutoFit/>
          </a:bodyPr>
          <a:lstStyle/>
          <a:p>
            <a:pPr algn="l" marL="863612" indent="-431806" lvl="1">
              <a:lnSpc>
                <a:spcPts val="3760"/>
              </a:lnSpc>
              <a:buFont typeface="Arial"/>
              <a:buChar char="•"/>
            </a:pPr>
            <a:r>
              <a:rPr lang="en-US" sz="4000">
                <a:solidFill>
                  <a:srgbClr val="15193E"/>
                </a:solidFill>
                <a:latin typeface="Codec Pro"/>
                <a:ea typeface="Codec Pro"/>
                <a:cs typeface="Codec Pro"/>
                <a:sym typeface="Codec Pro"/>
              </a:rPr>
              <a:t>ESP32-C3</a:t>
            </a:r>
          </a:p>
          <a:p>
            <a:pPr algn="l">
              <a:lnSpc>
                <a:spcPts val="3760"/>
              </a:lnSpc>
            </a:pPr>
          </a:p>
          <a:p>
            <a:pPr algn="l" marL="863612" indent="-431806" lvl="1">
              <a:lnSpc>
                <a:spcPts val="3760"/>
              </a:lnSpc>
              <a:buFont typeface="Arial"/>
              <a:buChar char="•"/>
            </a:pPr>
            <a:r>
              <a:rPr lang="en-US" sz="4000">
                <a:solidFill>
                  <a:srgbClr val="15193E"/>
                </a:solidFill>
                <a:latin typeface="Codec Pro"/>
                <a:ea typeface="Codec Pro"/>
                <a:cs typeface="Codec Pro"/>
                <a:sym typeface="Codec Pro"/>
              </a:rPr>
              <a:t>MÓDULO GPS</a:t>
            </a:r>
          </a:p>
          <a:p>
            <a:pPr algn="l">
              <a:lnSpc>
                <a:spcPts val="3760"/>
              </a:lnSpc>
            </a:pPr>
          </a:p>
          <a:p>
            <a:pPr algn="l" marL="863612" indent="-431806" lvl="1">
              <a:lnSpc>
                <a:spcPts val="3760"/>
              </a:lnSpc>
              <a:buFont typeface="Arial"/>
              <a:buChar char="•"/>
            </a:pPr>
            <a:r>
              <a:rPr lang="en-US" sz="4000">
                <a:solidFill>
                  <a:srgbClr val="15193E"/>
                </a:solidFill>
                <a:latin typeface="Codec Pro"/>
                <a:ea typeface="Codec Pro"/>
                <a:cs typeface="Codec Pro"/>
                <a:sym typeface="Codec Pro"/>
              </a:rPr>
              <a:t>TECLADO MATRICIAL (4X4)</a:t>
            </a:r>
          </a:p>
          <a:p>
            <a:pPr algn="l">
              <a:lnSpc>
                <a:spcPts val="3760"/>
              </a:lnSpc>
            </a:pPr>
          </a:p>
          <a:p>
            <a:pPr algn="l" marL="863612" indent="-431806" lvl="1">
              <a:lnSpc>
                <a:spcPts val="3760"/>
              </a:lnSpc>
              <a:buFont typeface="Arial"/>
              <a:buChar char="•"/>
            </a:pPr>
            <a:r>
              <a:rPr lang="en-US" sz="4000">
                <a:solidFill>
                  <a:srgbClr val="15193E"/>
                </a:solidFill>
                <a:latin typeface="Codec Pro"/>
                <a:ea typeface="Codec Pro"/>
                <a:cs typeface="Codec Pro"/>
                <a:sym typeface="Codec Pro"/>
              </a:rPr>
              <a:t>PROTOBOARD</a:t>
            </a:r>
          </a:p>
          <a:p>
            <a:pPr algn="l">
              <a:lnSpc>
                <a:spcPts val="3760"/>
              </a:lnSpc>
            </a:pPr>
          </a:p>
          <a:p>
            <a:pPr algn="l" marL="863612" indent="-431806" lvl="1">
              <a:lnSpc>
                <a:spcPts val="3760"/>
              </a:lnSpc>
              <a:buFont typeface="Arial"/>
              <a:buChar char="•"/>
            </a:pPr>
            <a:r>
              <a:rPr lang="en-US" sz="4000">
                <a:solidFill>
                  <a:srgbClr val="15193E"/>
                </a:solidFill>
                <a:latin typeface="Codec Pro"/>
                <a:ea typeface="Codec Pro"/>
                <a:cs typeface="Codec Pro"/>
                <a:sym typeface="Codec Pro"/>
              </a:rPr>
              <a:t>CABLES DUPONT</a:t>
            </a:r>
          </a:p>
          <a:p>
            <a:pPr algn="l">
              <a:lnSpc>
                <a:spcPts val="3760"/>
              </a:lnSpc>
            </a:pPr>
          </a:p>
          <a:p>
            <a:pPr algn="l" marL="863612" indent="-431806" lvl="1">
              <a:lnSpc>
                <a:spcPts val="3760"/>
              </a:lnSpc>
              <a:buFont typeface="Arial"/>
              <a:buChar char="•"/>
            </a:pPr>
            <a:r>
              <a:rPr lang="en-US" sz="4000">
                <a:solidFill>
                  <a:srgbClr val="15193E"/>
                </a:solidFill>
                <a:latin typeface="Codec Pro"/>
                <a:ea typeface="Codec Pro"/>
                <a:cs typeface="Codec Pro"/>
                <a:sym typeface="Codec Pro"/>
              </a:rPr>
              <a:t>ANTENA GPS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5C69F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475560" y="1028700"/>
            <a:ext cx="14783740" cy="8229600"/>
            <a:chOff x="0" y="0"/>
            <a:chExt cx="3893660" cy="2167467"/>
          </a:xfrm>
        </p:grpSpPr>
        <p:sp>
          <p:nvSpPr>
            <p:cNvPr name="Freeform 3" id="3"/>
            <p:cNvSpPr/>
            <p:nvPr/>
          </p:nvSpPr>
          <p:spPr>
            <a:xfrm flipH="false" flipV="false" rot="0">
              <a:off x="0" y="0"/>
              <a:ext cx="3893660" cy="2167467"/>
            </a:xfrm>
            <a:custGeom>
              <a:avLst/>
              <a:gdLst/>
              <a:ahLst/>
              <a:cxnLst/>
              <a:rect r="r" b="b" t="t" l="l"/>
              <a:pathLst>
                <a:path h="2167467" w="3893660">
                  <a:moveTo>
                    <a:pt x="16758" y="0"/>
                  </a:moveTo>
                  <a:lnTo>
                    <a:pt x="3876903" y="0"/>
                  </a:lnTo>
                  <a:cubicBezTo>
                    <a:pt x="3886157" y="0"/>
                    <a:pt x="3893660" y="7503"/>
                    <a:pt x="3893660" y="16758"/>
                  </a:cubicBezTo>
                  <a:lnTo>
                    <a:pt x="3893660" y="2150709"/>
                  </a:lnTo>
                  <a:cubicBezTo>
                    <a:pt x="3893660" y="2159964"/>
                    <a:pt x="3886157" y="2167467"/>
                    <a:pt x="3876903" y="2167467"/>
                  </a:cubicBezTo>
                  <a:lnTo>
                    <a:pt x="16758" y="2167467"/>
                  </a:lnTo>
                  <a:cubicBezTo>
                    <a:pt x="7503" y="2167467"/>
                    <a:pt x="0" y="2159964"/>
                    <a:pt x="0" y="2150709"/>
                  </a:cubicBezTo>
                  <a:lnTo>
                    <a:pt x="0" y="16758"/>
                  </a:lnTo>
                  <a:cubicBezTo>
                    <a:pt x="0" y="7503"/>
                    <a:pt x="7503" y="0"/>
                    <a:pt x="16758" y="0"/>
                  </a:cubicBezTo>
                  <a:close/>
                </a:path>
              </a:pathLst>
            </a:custGeom>
            <a:solidFill>
              <a:srgbClr val="E4E5EC"/>
            </a:solidFill>
          </p:spPr>
        </p:sp>
        <p:sp>
          <p:nvSpPr>
            <p:cNvPr name="TextBox 4" id="4"/>
            <p:cNvSpPr txBox="true"/>
            <p:nvPr/>
          </p:nvSpPr>
          <p:spPr>
            <a:xfrm>
              <a:off x="0" y="-38100"/>
              <a:ext cx="3893660"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4005125" y="1944226"/>
            <a:ext cx="11724610" cy="925703"/>
          </a:xfrm>
          <a:prstGeom prst="rect">
            <a:avLst/>
          </a:prstGeom>
        </p:spPr>
        <p:txBody>
          <a:bodyPr anchor="t" rtlCol="false" tIns="0" lIns="0" bIns="0" rIns="0">
            <a:spAutoFit/>
          </a:bodyPr>
          <a:lstStyle/>
          <a:p>
            <a:pPr algn="l">
              <a:lnSpc>
                <a:spcPts val="6015"/>
              </a:lnSpc>
            </a:pPr>
            <a:r>
              <a:rPr lang="en-US" sz="6399" b="true">
                <a:solidFill>
                  <a:srgbClr val="15193E"/>
                </a:solidFill>
                <a:latin typeface="Codec Pro Ultra-Bold"/>
                <a:ea typeface="Codec Pro Ultra-Bold"/>
                <a:cs typeface="Codec Pro Ultra-Bold"/>
                <a:sym typeface="Codec Pro Ultra-Bold"/>
              </a:rPr>
              <a:t>ARQUITECTURA DEL SISTEMA</a:t>
            </a:r>
          </a:p>
        </p:txBody>
      </p:sp>
      <p:sp>
        <p:nvSpPr>
          <p:cNvPr name="Freeform 6" id="6"/>
          <p:cNvSpPr/>
          <p:nvPr/>
        </p:nvSpPr>
        <p:spPr>
          <a:xfrm flipH="false" flipV="false" rot="0">
            <a:off x="1653028" y="535426"/>
            <a:ext cx="2726935" cy="1621287"/>
          </a:xfrm>
          <a:custGeom>
            <a:avLst/>
            <a:gdLst/>
            <a:ahLst/>
            <a:cxnLst/>
            <a:rect r="r" b="b" t="t" l="l"/>
            <a:pathLst>
              <a:path h="1621287" w="2726935">
                <a:moveTo>
                  <a:pt x="0" y="0"/>
                </a:moveTo>
                <a:lnTo>
                  <a:pt x="2726935" y="0"/>
                </a:lnTo>
                <a:lnTo>
                  <a:pt x="2726935" y="1621287"/>
                </a:lnTo>
                <a:lnTo>
                  <a:pt x="0" y="1621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71156" y="1610537"/>
            <a:ext cx="2599390" cy="1545456"/>
          </a:xfrm>
          <a:custGeom>
            <a:avLst/>
            <a:gdLst/>
            <a:ahLst/>
            <a:cxnLst/>
            <a:rect r="r" b="b" t="t" l="l"/>
            <a:pathLst>
              <a:path h="1545456" w="2599390">
                <a:moveTo>
                  <a:pt x="0" y="0"/>
                </a:moveTo>
                <a:lnTo>
                  <a:pt x="2599391" y="0"/>
                </a:lnTo>
                <a:lnTo>
                  <a:pt x="2599391" y="1545455"/>
                </a:lnTo>
                <a:lnTo>
                  <a:pt x="0" y="1545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183526" y="2869928"/>
            <a:ext cx="10659882" cy="6207533"/>
          </a:xfrm>
          <a:custGeom>
            <a:avLst/>
            <a:gdLst/>
            <a:ahLst/>
            <a:cxnLst/>
            <a:rect r="r" b="b" t="t" l="l"/>
            <a:pathLst>
              <a:path h="6207533" w="10659882">
                <a:moveTo>
                  <a:pt x="0" y="0"/>
                </a:moveTo>
                <a:lnTo>
                  <a:pt x="10659882" y="0"/>
                </a:lnTo>
                <a:lnTo>
                  <a:pt x="10659882" y="6207533"/>
                </a:lnTo>
                <a:lnTo>
                  <a:pt x="0" y="6207533"/>
                </a:lnTo>
                <a:lnTo>
                  <a:pt x="0" y="0"/>
                </a:lnTo>
                <a:close/>
              </a:path>
            </a:pathLst>
          </a:custGeom>
          <a:blipFill>
            <a:blip r:embed="rId4"/>
            <a:stretch>
              <a:fillRect l="0" t="-3556" r="0" b="-3556"/>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E5EC"/>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26102" y="-549566"/>
            <a:ext cx="2789693" cy="1658599"/>
          </a:xfrm>
          <a:custGeom>
            <a:avLst/>
            <a:gdLst/>
            <a:ahLst/>
            <a:cxnLst/>
            <a:rect r="r" b="b" t="t" l="l"/>
            <a:pathLst>
              <a:path h="1658599" w="2789693">
                <a:moveTo>
                  <a:pt x="2789693" y="0"/>
                </a:moveTo>
                <a:lnTo>
                  <a:pt x="0" y="0"/>
                </a:lnTo>
                <a:lnTo>
                  <a:pt x="0" y="1658599"/>
                </a:lnTo>
                <a:lnTo>
                  <a:pt x="2789693" y="1658599"/>
                </a:lnTo>
                <a:lnTo>
                  <a:pt x="27896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6559302" y="451930"/>
            <a:ext cx="2789693" cy="1658599"/>
          </a:xfrm>
          <a:custGeom>
            <a:avLst/>
            <a:gdLst/>
            <a:ahLst/>
            <a:cxnLst/>
            <a:rect r="r" b="b" t="t" l="l"/>
            <a:pathLst>
              <a:path h="1658599" w="2789693">
                <a:moveTo>
                  <a:pt x="2789692" y="0"/>
                </a:moveTo>
                <a:lnTo>
                  <a:pt x="0" y="0"/>
                </a:lnTo>
                <a:lnTo>
                  <a:pt x="0" y="1658600"/>
                </a:lnTo>
                <a:lnTo>
                  <a:pt x="2789692" y="1658600"/>
                </a:lnTo>
                <a:lnTo>
                  <a:pt x="27896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6772825" y="-422617"/>
            <a:ext cx="2362646" cy="1404701"/>
          </a:xfrm>
          <a:custGeom>
            <a:avLst/>
            <a:gdLst/>
            <a:ahLst/>
            <a:cxnLst/>
            <a:rect r="r" b="b" t="t" l="l"/>
            <a:pathLst>
              <a:path h="1404701" w="2362646">
                <a:moveTo>
                  <a:pt x="2362646" y="0"/>
                </a:moveTo>
                <a:lnTo>
                  <a:pt x="0" y="0"/>
                </a:lnTo>
                <a:lnTo>
                  <a:pt x="0" y="1404701"/>
                </a:lnTo>
                <a:lnTo>
                  <a:pt x="2362646" y="1404701"/>
                </a:lnTo>
                <a:lnTo>
                  <a:pt x="23626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9416472"/>
            <a:ext cx="18288000" cy="870528"/>
          </a:xfrm>
          <a:custGeom>
            <a:avLst/>
            <a:gdLst/>
            <a:ahLst/>
            <a:cxnLst/>
            <a:rect r="r" b="b" t="t" l="l"/>
            <a:pathLst>
              <a:path h="870528" w="18288000">
                <a:moveTo>
                  <a:pt x="0" y="0"/>
                </a:moveTo>
                <a:lnTo>
                  <a:pt x="18288000" y="0"/>
                </a:lnTo>
                <a:lnTo>
                  <a:pt x="18288000" y="870528"/>
                </a:lnTo>
                <a:lnTo>
                  <a:pt x="0" y="870528"/>
                </a:lnTo>
                <a:lnTo>
                  <a:pt x="0" y="0"/>
                </a:lnTo>
                <a:close/>
              </a:path>
            </a:pathLst>
          </a:custGeom>
          <a:blipFill>
            <a:blip r:embed="rId4">
              <a:extLst>
                <a:ext uri="{96DAC541-7B7A-43D3-8B79-37D633B846F1}">
                  <asvg:svgBlip xmlns:asvg="http://schemas.microsoft.com/office/drawing/2016/SVG/main" r:embed="rId5"/>
                </a:ext>
              </a:extLst>
            </a:blip>
            <a:stretch>
              <a:fillRect l="0" t="-2000794" r="0" b="0"/>
            </a:stretch>
          </a:blipFill>
        </p:spPr>
      </p:sp>
      <p:sp>
        <p:nvSpPr>
          <p:cNvPr name="TextBox 9" id="9"/>
          <p:cNvSpPr txBox="true"/>
          <p:nvPr/>
        </p:nvSpPr>
        <p:spPr>
          <a:xfrm rot="0">
            <a:off x="3313291" y="1184827"/>
            <a:ext cx="11661417" cy="925703"/>
          </a:xfrm>
          <a:prstGeom prst="rect">
            <a:avLst/>
          </a:prstGeom>
        </p:spPr>
        <p:txBody>
          <a:bodyPr anchor="t" rtlCol="false" tIns="0" lIns="0" bIns="0" rIns="0">
            <a:spAutoFit/>
          </a:bodyPr>
          <a:lstStyle/>
          <a:p>
            <a:pPr algn="l">
              <a:lnSpc>
                <a:spcPts val="6015"/>
              </a:lnSpc>
            </a:pPr>
            <a:r>
              <a:rPr lang="en-US" sz="6399" b="true">
                <a:solidFill>
                  <a:srgbClr val="15193E"/>
                </a:solidFill>
                <a:latin typeface="Codec Pro Ultra-Bold"/>
                <a:ea typeface="Codec Pro Ultra-Bold"/>
                <a:cs typeface="Codec Pro Ultra-Bold"/>
                <a:sym typeface="Codec Pro Ultra-Bold"/>
              </a:rPr>
              <a:t>ARQUITECTURA DEL SISTEMA</a:t>
            </a:r>
          </a:p>
        </p:txBody>
      </p:sp>
      <p:sp>
        <p:nvSpPr>
          <p:cNvPr name="TextBox 10" id="10"/>
          <p:cNvSpPr txBox="true"/>
          <p:nvPr/>
        </p:nvSpPr>
        <p:spPr>
          <a:xfrm rot="0">
            <a:off x="1267051" y="2291505"/>
            <a:ext cx="14359051" cy="579757"/>
          </a:xfrm>
          <a:prstGeom prst="rect">
            <a:avLst/>
          </a:prstGeom>
        </p:spPr>
        <p:txBody>
          <a:bodyPr anchor="t" rtlCol="false" tIns="0" lIns="0" bIns="0" rIns="0">
            <a:spAutoFit/>
          </a:bodyPr>
          <a:lstStyle/>
          <a:p>
            <a:pPr algn="l">
              <a:lnSpc>
                <a:spcPts val="3760"/>
              </a:lnSpc>
            </a:pPr>
            <a:r>
              <a:rPr lang="en-US" sz="4000" b="true">
                <a:solidFill>
                  <a:srgbClr val="15193E"/>
                </a:solidFill>
                <a:latin typeface="Codec Pro Bold"/>
                <a:ea typeface="Codec Pro Bold"/>
                <a:cs typeface="Codec Pro Bold"/>
                <a:sym typeface="Codec Pro Bold"/>
              </a:rPr>
              <a:t>EXPLICACIÓN BREVE DEL SISTEMA:</a:t>
            </a:r>
          </a:p>
        </p:txBody>
      </p:sp>
      <p:sp>
        <p:nvSpPr>
          <p:cNvPr name="TextBox 11" id="11"/>
          <p:cNvSpPr txBox="true"/>
          <p:nvPr/>
        </p:nvSpPr>
        <p:spPr>
          <a:xfrm rot="0">
            <a:off x="1307847" y="2966511"/>
            <a:ext cx="15251454" cy="4246928"/>
          </a:xfrm>
          <a:prstGeom prst="rect">
            <a:avLst/>
          </a:prstGeom>
        </p:spPr>
        <p:txBody>
          <a:bodyPr anchor="t" rtlCol="false" tIns="0" lIns="0" bIns="0" rIns="0">
            <a:spAutoFit/>
          </a:bodyPr>
          <a:lstStyle/>
          <a:p>
            <a:pPr algn="just">
              <a:lnSpc>
                <a:spcPts val="4267"/>
              </a:lnSpc>
            </a:pPr>
            <a:r>
              <a:rPr lang="en-US" sz="3048">
                <a:solidFill>
                  <a:srgbClr val="15193E"/>
                </a:solidFill>
                <a:latin typeface="Open Sans"/>
                <a:ea typeface="Open Sans"/>
                <a:cs typeface="Open Sans"/>
                <a:sym typeface="Open Sans"/>
              </a:rPr>
              <a:t>El GPS envia datos por UART, el ESP32 interpreta las sentencias NMEA. El usuario selecciona desde el teclado el tipo de información que desea consultar. Un LED confirma la recepción del comando, el segundo LED indica que el sistema está buscando el dato solicitado. Al encontrar el dato, se activa un tercer LED de confirmación. </a:t>
            </a:r>
          </a:p>
          <a:p>
            <a:pPr algn="just">
              <a:lnSpc>
                <a:spcPts val="4267"/>
              </a:lnSpc>
            </a:pPr>
          </a:p>
          <a:p>
            <a:pPr algn="just">
              <a:lnSpc>
                <a:spcPts val="4267"/>
              </a:lnSpc>
              <a:spcBef>
                <a:spcPct val="0"/>
              </a:spcBef>
            </a:pPr>
            <a:r>
              <a:rPr lang="en-US" sz="3048">
                <a:solidFill>
                  <a:srgbClr val="15193E"/>
                </a:solidFill>
                <a:latin typeface="Open Sans"/>
                <a:ea typeface="Open Sans"/>
                <a:cs typeface="Open Sans"/>
                <a:sym typeface="Open Sans"/>
              </a:rPr>
              <a:t>Por último el ESP32 envía la información al computador, viendo la misma reflejada en pantalla como coordenadas, altitud o velocidad.</a:t>
            </a:r>
          </a:p>
        </p:txBody>
      </p:sp>
      <p:sp>
        <p:nvSpPr>
          <p:cNvPr name="Freeform 12" id="12"/>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219048" y="2110530"/>
            <a:ext cx="11849904" cy="6164507"/>
          </a:xfrm>
          <a:custGeom>
            <a:avLst/>
            <a:gdLst/>
            <a:ahLst/>
            <a:cxnLst/>
            <a:rect r="r" b="b" t="t" l="l"/>
            <a:pathLst>
              <a:path h="6164507" w="11849904">
                <a:moveTo>
                  <a:pt x="0" y="0"/>
                </a:moveTo>
                <a:lnTo>
                  <a:pt x="11849904" y="0"/>
                </a:lnTo>
                <a:lnTo>
                  <a:pt x="11849904" y="6164507"/>
                </a:lnTo>
                <a:lnTo>
                  <a:pt x="0" y="6164507"/>
                </a:lnTo>
                <a:lnTo>
                  <a:pt x="0" y="0"/>
                </a:lnTo>
                <a:close/>
              </a:path>
            </a:pathLst>
          </a:custGeom>
          <a:blipFill>
            <a:blip r:embed="rId4"/>
            <a:stretch>
              <a:fillRect l="0" t="0" r="-1493" b="-25838"/>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TABLA DE PINES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750182" y="2121324"/>
            <a:ext cx="11034624" cy="6294398"/>
          </a:xfrm>
          <a:custGeom>
            <a:avLst/>
            <a:gdLst/>
            <a:ahLst/>
            <a:cxnLst/>
            <a:rect r="r" b="b" t="t" l="l"/>
            <a:pathLst>
              <a:path h="6294398" w="11034624">
                <a:moveTo>
                  <a:pt x="0" y="0"/>
                </a:moveTo>
                <a:lnTo>
                  <a:pt x="11034624" y="0"/>
                </a:lnTo>
                <a:lnTo>
                  <a:pt x="11034624" y="6294399"/>
                </a:lnTo>
                <a:lnTo>
                  <a:pt x="0" y="6294399"/>
                </a:lnTo>
                <a:lnTo>
                  <a:pt x="0" y="0"/>
                </a:lnTo>
                <a:close/>
              </a:path>
            </a:pathLst>
          </a:custGeom>
          <a:blipFill>
            <a:blip r:embed="rId4"/>
            <a:stretch>
              <a:fillRect l="0" t="0" r="0" b="0"/>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FRAGMENTOS DE CÓDIGO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870680" y="2414407"/>
            <a:ext cx="10546640" cy="5708233"/>
          </a:xfrm>
          <a:custGeom>
            <a:avLst/>
            <a:gdLst/>
            <a:ahLst/>
            <a:cxnLst/>
            <a:rect r="r" b="b" t="t" l="l"/>
            <a:pathLst>
              <a:path h="5708233" w="10546640">
                <a:moveTo>
                  <a:pt x="0" y="0"/>
                </a:moveTo>
                <a:lnTo>
                  <a:pt x="10546640" y="0"/>
                </a:lnTo>
                <a:lnTo>
                  <a:pt x="10546640" y="5708233"/>
                </a:lnTo>
                <a:lnTo>
                  <a:pt x="0" y="5708233"/>
                </a:lnTo>
                <a:lnTo>
                  <a:pt x="0" y="0"/>
                </a:lnTo>
                <a:close/>
              </a:path>
            </a:pathLst>
          </a:custGeom>
          <a:blipFill>
            <a:blip r:embed="rId4"/>
            <a:stretch>
              <a:fillRect l="0" t="0" r="0" b="0"/>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FRAGMENTOS DE CÓDIGO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826542" y="2363114"/>
            <a:ext cx="12634917" cy="5560771"/>
          </a:xfrm>
          <a:custGeom>
            <a:avLst/>
            <a:gdLst/>
            <a:ahLst/>
            <a:cxnLst/>
            <a:rect r="r" b="b" t="t" l="l"/>
            <a:pathLst>
              <a:path h="5560771" w="12634917">
                <a:moveTo>
                  <a:pt x="0" y="0"/>
                </a:moveTo>
                <a:lnTo>
                  <a:pt x="12634916" y="0"/>
                </a:lnTo>
                <a:lnTo>
                  <a:pt x="12634916" y="5560772"/>
                </a:lnTo>
                <a:lnTo>
                  <a:pt x="0" y="5560772"/>
                </a:lnTo>
                <a:lnTo>
                  <a:pt x="0" y="0"/>
                </a:lnTo>
                <a:close/>
              </a:path>
            </a:pathLst>
          </a:custGeom>
          <a:blipFill>
            <a:blip r:embed="rId4"/>
            <a:stretch>
              <a:fillRect l="0" t="0" r="0" b="0"/>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RESULTADOS OBTENIDOS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383420" y="2389190"/>
            <a:ext cx="13521159" cy="5508620"/>
          </a:xfrm>
          <a:custGeom>
            <a:avLst/>
            <a:gdLst/>
            <a:ahLst/>
            <a:cxnLst/>
            <a:rect r="r" b="b" t="t" l="l"/>
            <a:pathLst>
              <a:path h="5508620" w="13521159">
                <a:moveTo>
                  <a:pt x="0" y="0"/>
                </a:moveTo>
                <a:lnTo>
                  <a:pt x="13521160" y="0"/>
                </a:lnTo>
                <a:lnTo>
                  <a:pt x="13521160" y="5508620"/>
                </a:lnTo>
                <a:lnTo>
                  <a:pt x="0" y="5508620"/>
                </a:lnTo>
                <a:lnTo>
                  <a:pt x="0" y="0"/>
                </a:lnTo>
                <a:close/>
              </a:path>
            </a:pathLst>
          </a:custGeom>
          <a:blipFill>
            <a:blip r:embed="rId4"/>
            <a:stretch>
              <a:fillRect l="0" t="0" r="0" b="0"/>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RESULTADOS OBTENIDOS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5193E"/>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728698" y="1635922"/>
            <a:ext cx="14830603" cy="7265203"/>
            <a:chOff x="0" y="0"/>
            <a:chExt cx="5140172" cy="2518063"/>
          </a:xfrm>
        </p:grpSpPr>
        <p:sp>
          <p:nvSpPr>
            <p:cNvPr name="Freeform 6" id="6"/>
            <p:cNvSpPr/>
            <p:nvPr/>
          </p:nvSpPr>
          <p:spPr>
            <a:xfrm flipH="false" flipV="false" rot="0">
              <a:off x="0" y="0"/>
              <a:ext cx="5140172" cy="2518063"/>
            </a:xfrm>
            <a:custGeom>
              <a:avLst/>
              <a:gdLst/>
              <a:ahLst/>
              <a:cxnLst/>
              <a:rect r="r" b="b" t="t" l="l"/>
              <a:pathLst>
                <a:path h="2518063" w="5140172">
                  <a:moveTo>
                    <a:pt x="11485" y="0"/>
                  </a:moveTo>
                  <a:lnTo>
                    <a:pt x="5128687" y="0"/>
                  </a:lnTo>
                  <a:cubicBezTo>
                    <a:pt x="5131733" y="0"/>
                    <a:pt x="5134654" y="1210"/>
                    <a:pt x="5136808" y="3364"/>
                  </a:cubicBezTo>
                  <a:cubicBezTo>
                    <a:pt x="5138962" y="5517"/>
                    <a:pt x="5140172" y="8439"/>
                    <a:pt x="5140172" y="11485"/>
                  </a:cubicBezTo>
                  <a:lnTo>
                    <a:pt x="5140172" y="2506578"/>
                  </a:lnTo>
                  <a:cubicBezTo>
                    <a:pt x="5140172" y="2509624"/>
                    <a:pt x="5138962" y="2512545"/>
                    <a:pt x="5136808" y="2514699"/>
                  </a:cubicBezTo>
                  <a:cubicBezTo>
                    <a:pt x="5134654" y="2516853"/>
                    <a:pt x="5131733" y="2518063"/>
                    <a:pt x="5128687" y="2518063"/>
                  </a:cubicBezTo>
                  <a:lnTo>
                    <a:pt x="11485" y="2518063"/>
                  </a:lnTo>
                  <a:cubicBezTo>
                    <a:pt x="8439" y="2518063"/>
                    <a:pt x="5517" y="2516853"/>
                    <a:pt x="3364" y="2514699"/>
                  </a:cubicBezTo>
                  <a:cubicBezTo>
                    <a:pt x="1210" y="2512545"/>
                    <a:pt x="0" y="2509624"/>
                    <a:pt x="0" y="2506578"/>
                  </a:cubicBezTo>
                  <a:lnTo>
                    <a:pt x="0" y="11485"/>
                  </a:lnTo>
                  <a:cubicBezTo>
                    <a:pt x="0" y="8439"/>
                    <a:pt x="1210" y="5517"/>
                    <a:pt x="3364" y="3364"/>
                  </a:cubicBezTo>
                  <a:cubicBezTo>
                    <a:pt x="5517" y="1210"/>
                    <a:pt x="8439" y="0"/>
                    <a:pt x="11485" y="0"/>
                  </a:cubicBezTo>
                  <a:close/>
                </a:path>
              </a:pathLst>
            </a:custGeom>
            <a:solidFill>
              <a:srgbClr val="F0F2FD"/>
            </a:solidFill>
          </p:spPr>
        </p:sp>
        <p:sp>
          <p:nvSpPr>
            <p:cNvPr name="TextBox 7" id="7"/>
            <p:cNvSpPr txBox="true"/>
            <p:nvPr/>
          </p:nvSpPr>
          <p:spPr>
            <a:xfrm>
              <a:off x="0" y="-38100"/>
              <a:ext cx="5140172" cy="255616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558635" y="2258871"/>
            <a:ext cx="13020897" cy="5769259"/>
          </a:xfrm>
          <a:custGeom>
            <a:avLst/>
            <a:gdLst/>
            <a:ahLst/>
            <a:cxnLst/>
            <a:rect r="r" b="b" t="t" l="l"/>
            <a:pathLst>
              <a:path h="5769259" w="13020897">
                <a:moveTo>
                  <a:pt x="0" y="0"/>
                </a:moveTo>
                <a:lnTo>
                  <a:pt x="13020897" y="0"/>
                </a:lnTo>
                <a:lnTo>
                  <a:pt x="13020897" y="5769258"/>
                </a:lnTo>
                <a:lnTo>
                  <a:pt x="0" y="5769258"/>
                </a:lnTo>
                <a:lnTo>
                  <a:pt x="0" y="0"/>
                </a:lnTo>
                <a:close/>
              </a:path>
            </a:pathLst>
          </a:custGeom>
          <a:blipFill>
            <a:blip r:embed="rId4"/>
            <a:stretch>
              <a:fillRect l="0" t="0" r="0" b="0"/>
            </a:stretch>
          </a:blipFill>
        </p:spPr>
      </p:sp>
      <p:sp>
        <p:nvSpPr>
          <p:cNvPr name="TextBox 12" id="12"/>
          <p:cNvSpPr txBox="true"/>
          <p:nvPr/>
        </p:nvSpPr>
        <p:spPr>
          <a:xfrm rot="0">
            <a:off x="2455373" y="543045"/>
            <a:ext cx="13227422" cy="925703"/>
          </a:xfrm>
          <a:prstGeom prst="rect">
            <a:avLst/>
          </a:prstGeom>
        </p:spPr>
        <p:txBody>
          <a:bodyPr anchor="t" rtlCol="false" tIns="0" lIns="0" bIns="0" rIns="0">
            <a:spAutoFit/>
          </a:bodyPr>
          <a:lstStyle/>
          <a:p>
            <a:pPr algn="ctr">
              <a:lnSpc>
                <a:spcPts val="6015"/>
              </a:lnSpc>
            </a:pPr>
            <a:r>
              <a:rPr lang="en-US" b="true" sz="6399">
                <a:solidFill>
                  <a:srgbClr val="FFFFFF"/>
                </a:solidFill>
                <a:latin typeface="Codec Pro Ultra-Bold"/>
                <a:ea typeface="Codec Pro Ultra-Bold"/>
                <a:cs typeface="Codec Pro Ultra-Bold"/>
                <a:sym typeface="Codec Pro Ultra-Bold"/>
              </a:rPr>
              <a:t>RESULTADOS OBTENIDOS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4E5EC"/>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26102" y="-549566"/>
            <a:ext cx="2789693" cy="1658599"/>
          </a:xfrm>
          <a:custGeom>
            <a:avLst/>
            <a:gdLst/>
            <a:ahLst/>
            <a:cxnLst/>
            <a:rect r="r" b="b" t="t" l="l"/>
            <a:pathLst>
              <a:path h="1658599" w="2789693">
                <a:moveTo>
                  <a:pt x="2789693" y="0"/>
                </a:moveTo>
                <a:lnTo>
                  <a:pt x="0" y="0"/>
                </a:lnTo>
                <a:lnTo>
                  <a:pt x="0" y="1658599"/>
                </a:lnTo>
                <a:lnTo>
                  <a:pt x="2789693" y="1658599"/>
                </a:lnTo>
                <a:lnTo>
                  <a:pt x="27896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6559302" y="451930"/>
            <a:ext cx="2789693" cy="1658599"/>
          </a:xfrm>
          <a:custGeom>
            <a:avLst/>
            <a:gdLst/>
            <a:ahLst/>
            <a:cxnLst/>
            <a:rect r="r" b="b" t="t" l="l"/>
            <a:pathLst>
              <a:path h="1658599" w="2789693">
                <a:moveTo>
                  <a:pt x="2789692" y="0"/>
                </a:moveTo>
                <a:lnTo>
                  <a:pt x="0" y="0"/>
                </a:lnTo>
                <a:lnTo>
                  <a:pt x="0" y="1658600"/>
                </a:lnTo>
                <a:lnTo>
                  <a:pt x="2789692" y="1658600"/>
                </a:lnTo>
                <a:lnTo>
                  <a:pt x="27896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6772825" y="-422617"/>
            <a:ext cx="2362646" cy="1404701"/>
          </a:xfrm>
          <a:custGeom>
            <a:avLst/>
            <a:gdLst/>
            <a:ahLst/>
            <a:cxnLst/>
            <a:rect r="r" b="b" t="t" l="l"/>
            <a:pathLst>
              <a:path h="1404701" w="2362646">
                <a:moveTo>
                  <a:pt x="2362646" y="0"/>
                </a:moveTo>
                <a:lnTo>
                  <a:pt x="0" y="0"/>
                </a:lnTo>
                <a:lnTo>
                  <a:pt x="0" y="1404701"/>
                </a:lnTo>
                <a:lnTo>
                  <a:pt x="2362646" y="1404701"/>
                </a:lnTo>
                <a:lnTo>
                  <a:pt x="23626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9416472"/>
            <a:ext cx="18288000" cy="870528"/>
          </a:xfrm>
          <a:custGeom>
            <a:avLst/>
            <a:gdLst/>
            <a:ahLst/>
            <a:cxnLst/>
            <a:rect r="r" b="b" t="t" l="l"/>
            <a:pathLst>
              <a:path h="870528" w="18288000">
                <a:moveTo>
                  <a:pt x="0" y="0"/>
                </a:moveTo>
                <a:lnTo>
                  <a:pt x="18288000" y="0"/>
                </a:lnTo>
                <a:lnTo>
                  <a:pt x="18288000" y="870528"/>
                </a:lnTo>
                <a:lnTo>
                  <a:pt x="0" y="870528"/>
                </a:lnTo>
                <a:lnTo>
                  <a:pt x="0" y="0"/>
                </a:lnTo>
                <a:close/>
              </a:path>
            </a:pathLst>
          </a:custGeom>
          <a:blipFill>
            <a:blip r:embed="rId4">
              <a:extLst>
                <a:ext uri="{96DAC541-7B7A-43D3-8B79-37D633B846F1}">
                  <asvg:svgBlip xmlns:asvg="http://schemas.microsoft.com/office/drawing/2016/SVG/main" r:embed="rId5"/>
                </a:ext>
              </a:extLst>
            </a:blip>
            <a:stretch>
              <a:fillRect l="0" t="-2000794" r="0" b="0"/>
            </a:stretch>
          </a:blipFill>
        </p:spPr>
      </p:sp>
      <p:sp>
        <p:nvSpPr>
          <p:cNvPr name="TextBox 9" id="9"/>
          <p:cNvSpPr txBox="true"/>
          <p:nvPr/>
        </p:nvSpPr>
        <p:spPr>
          <a:xfrm rot="0">
            <a:off x="3313291" y="842191"/>
            <a:ext cx="11661417" cy="925703"/>
          </a:xfrm>
          <a:prstGeom prst="rect">
            <a:avLst/>
          </a:prstGeom>
        </p:spPr>
        <p:txBody>
          <a:bodyPr anchor="t" rtlCol="false" tIns="0" lIns="0" bIns="0" rIns="0">
            <a:spAutoFit/>
          </a:bodyPr>
          <a:lstStyle/>
          <a:p>
            <a:pPr algn="ctr">
              <a:lnSpc>
                <a:spcPts val="6015"/>
              </a:lnSpc>
            </a:pPr>
            <a:r>
              <a:rPr lang="en-US" b="true" sz="6399">
                <a:solidFill>
                  <a:srgbClr val="15193E"/>
                </a:solidFill>
                <a:latin typeface="Codec Pro Ultra-Bold"/>
                <a:ea typeface="Codec Pro Ultra-Bold"/>
                <a:cs typeface="Codec Pro Ultra-Bold"/>
                <a:sym typeface="Codec Pro Ultra-Bold"/>
              </a:rPr>
              <a:t>PUNTOS TRABAJADOS</a:t>
            </a:r>
          </a:p>
        </p:txBody>
      </p:sp>
      <p:sp>
        <p:nvSpPr>
          <p:cNvPr name="TextBox 10" id="10"/>
          <p:cNvSpPr txBox="true"/>
          <p:nvPr/>
        </p:nvSpPr>
        <p:spPr>
          <a:xfrm rot="0">
            <a:off x="1287449" y="2378505"/>
            <a:ext cx="15713102" cy="5472839"/>
          </a:xfrm>
          <a:prstGeom prst="rect">
            <a:avLst/>
          </a:prstGeom>
        </p:spPr>
        <p:txBody>
          <a:bodyPr anchor="t" rtlCol="false" tIns="0" lIns="0" bIns="0" rIns="0">
            <a:spAutoFit/>
          </a:bodyPr>
          <a:lstStyle/>
          <a:p>
            <a:pPr algn="l" marL="678011" indent="-339005" lvl="1">
              <a:lnSpc>
                <a:spcPts val="4396"/>
              </a:lnSpc>
              <a:buFont typeface="Arial"/>
              <a:buChar char="•"/>
            </a:pPr>
            <a:r>
              <a:rPr lang="en-US" sz="3140">
                <a:solidFill>
                  <a:srgbClr val="15193E"/>
                </a:solidFill>
                <a:latin typeface="Open Sans"/>
                <a:ea typeface="Open Sans"/>
                <a:cs typeface="Open Sans"/>
                <a:sym typeface="Open Sans"/>
              </a:rPr>
              <a:t>Implementación de comunicación serial UART entre dispositivos.</a:t>
            </a:r>
          </a:p>
          <a:p>
            <a:pPr algn="l">
              <a:lnSpc>
                <a:spcPts val="4396"/>
              </a:lnSpc>
            </a:pPr>
          </a:p>
          <a:p>
            <a:pPr algn="l" marL="678011" indent="-339005" lvl="1">
              <a:lnSpc>
                <a:spcPts val="4396"/>
              </a:lnSpc>
              <a:buFont typeface="Arial"/>
              <a:buChar char="•"/>
            </a:pPr>
            <a:r>
              <a:rPr lang="en-US" sz="3140">
                <a:solidFill>
                  <a:srgbClr val="15193E"/>
                </a:solidFill>
                <a:latin typeface="Open Sans"/>
                <a:ea typeface="Open Sans"/>
                <a:cs typeface="Open Sans"/>
                <a:sym typeface="Open Sans"/>
              </a:rPr>
              <a:t>Procesamiento y parsing de sentencias NMEA (provenientes del GPS).</a:t>
            </a:r>
          </a:p>
          <a:p>
            <a:pPr algn="l">
              <a:lnSpc>
                <a:spcPts val="4396"/>
              </a:lnSpc>
            </a:pPr>
          </a:p>
          <a:p>
            <a:pPr algn="l" marL="678011" indent="-339005" lvl="1">
              <a:lnSpc>
                <a:spcPts val="4396"/>
              </a:lnSpc>
              <a:buFont typeface="Arial"/>
              <a:buChar char="•"/>
            </a:pPr>
            <a:r>
              <a:rPr lang="en-US" sz="3140">
                <a:solidFill>
                  <a:srgbClr val="15193E"/>
                </a:solidFill>
                <a:latin typeface="Open Sans"/>
                <a:ea typeface="Open Sans"/>
                <a:cs typeface="Open Sans"/>
                <a:sym typeface="Open Sans"/>
              </a:rPr>
              <a:t>Desarrollo de apps embebidas usando ESP32-C3 y ESP-IDF.</a:t>
            </a:r>
          </a:p>
          <a:p>
            <a:pPr algn="l">
              <a:lnSpc>
                <a:spcPts val="4396"/>
              </a:lnSpc>
            </a:pPr>
          </a:p>
          <a:p>
            <a:pPr algn="l" marL="678011" indent="-339005" lvl="1">
              <a:lnSpc>
                <a:spcPts val="4396"/>
              </a:lnSpc>
              <a:buFont typeface="Arial"/>
              <a:buChar char="•"/>
            </a:pPr>
            <a:r>
              <a:rPr lang="en-US" sz="3140">
                <a:solidFill>
                  <a:srgbClr val="15193E"/>
                </a:solidFill>
                <a:latin typeface="Open Sans"/>
                <a:ea typeface="Open Sans"/>
                <a:cs typeface="Open Sans"/>
                <a:sym typeface="Open Sans"/>
              </a:rPr>
              <a:t>Uso de indicadores LED para representar los distintos estados del sistema.</a:t>
            </a:r>
          </a:p>
          <a:p>
            <a:pPr algn="l">
              <a:lnSpc>
                <a:spcPts val="4396"/>
              </a:lnSpc>
            </a:pPr>
          </a:p>
          <a:p>
            <a:pPr algn="l" marL="678011" indent="-339005" lvl="1">
              <a:lnSpc>
                <a:spcPts val="4396"/>
              </a:lnSpc>
              <a:buFont typeface="Arial"/>
              <a:buChar char="•"/>
            </a:pPr>
            <a:r>
              <a:rPr lang="en-US" sz="3140">
                <a:solidFill>
                  <a:srgbClr val="15193E"/>
                </a:solidFill>
                <a:latin typeface="Open Sans"/>
                <a:ea typeface="Open Sans"/>
                <a:cs typeface="Open Sans"/>
                <a:sym typeface="Open Sans"/>
              </a:rPr>
              <a:t>Integración de diversos equipos de hardware y conexión de módulos electrónicos reales.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4E5EC"/>
        </a:solidFill>
      </p:bgPr>
    </p:bg>
    <p:spTree>
      <p:nvGrpSpPr>
        <p:cNvPr id="1" name=""/>
        <p:cNvGrpSpPr/>
        <p:nvPr/>
      </p:nvGrpSpPr>
      <p:grpSpPr>
        <a:xfrm>
          <a:off x="0" y="0"/>
          <a:ext cx="0" cy="0"/>
          <a:chOff x="0" y="0"/>
          <a:chExt cx="0" cy="0"/>
        </a:xfrm>
      </p:grpSpPr>
      <p:sp>
        <p:nvSpPr>
          <p:cNvPr name="Freeform 2" id="2"/>
          <p:cNvSpPr/>
          <p:nvPr/>
        </p:nvSpPr>
        <p:spPr>
          <a:xfrm flipH="false" flipV="false" rot="0">
            <a:off x="-127795" y="-549566"/>
            <a:ext cx="2789693" cy="1658599"/>
          </a:xfrm>
          <a:custGeom>
            <a:avLst/>
            <a:gdLst/>
            <a:ahLst/>
            <a:cxnLst/>
            <a:rect r="r" b="b" t="t" l="l"/>
            <a:pathLst>
              <a:path h="1658599" w="2789693">
                <a:moveTo>
                  <a:pt x="0" y="0"/>
                </a:moveTo>
                <a:lnTo>
                  <a:pt x="2789693" y="0"/>
                </a:lnTo>
                <a:lnTo>
                  <a:pt x="2789693" y="1658599"/>
                </a:lnTo>
                <a:lnTo>
                  <a:pt x="0" y="16585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626102" y="-549566"/>
            <a:ext cx="2789693" cy="1658599"/>
          </a:xfrm>
          <a:custGeom>
            <a:avLst/>
            <a:gdLst/>
            <a:ahLst/>
            <a:cxnLst/>
            <a:rect r="r" b="b" t="t" l="l"/>
            <a:pathLst>
              <a:path h="1658599" w="2789693">
                <a:moveTo>
                  <a:pt x="2789693" y="0"/>
                </a:moveTo>
                <a:lnTo>
                  <a:pt x="0" y="0"/>
                </a:lnTo>
                <a:lnTo>
                  <a:pt x="0" y="1658599"/>
                </a:lnTo>
                <a:lnTo>
                  <a:pt x="2789693" y="1658599"/>
                </a:lnTo>
                <a:lnTo>
                  <a:pt x="27896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0994" y="451930"/>
            <a:ext cx="2789693" cy="1658599"/>
          </a:xfrm>
          <a:custGeom>
            <a:avLst/>
            <a:gdLst/>
            <a:ahLst/>
            <a:cxnLst/>
            <a:rect r="r" b="b" t="t" l="l"/>
            <a:pathLst>
              <a:path h="1658599" w="2789693">
                <a:moveTo>
                  <a:pt x="0" y="0"/>
                </a:moveTo>
                <a:lnTo>
                  <a:pt x="2789692" y="0"/>
                </a:lnTo>
                <a:lnTo>
                  <a:pt x="2789692" y="1658600"/>
                </a:lnTo>
                <a:lnTo>
                  <a:pt x="0" y="16586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6559302" y="451930"/>
            <a:ext cx="2789693" cy="1658599"/>
          </a:xfrm>
          <a:custGeom>
            <a:avLst/>
            <a:gdLst/>
            <a:ahLst/>
            <a:cxnLst/>
            <a:rect r="r" b="b" t="t" l="l"/>
            <a:pathLst>
              <a:path h="1658599" w="2789693">
                <a:moveTo>
                  <a:pt x="2789692" y="0"/>
                </a:moveTo>
                <a:lnTo>
                  <a:pt x="0" y="0"/>
                </a:lnTo>
                <a:lnTo>
                  <a:pt x="0" y="1658600"/>
                </a:lnTo>
                <a:lnTo>
                  <a:pt x="2789692" y="1658600"/>
                </a:lnTo>
                <a:lnTo>
                  <a:pt x="278969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47471" y="-422617"/>
            <a:ext cx="2362646" cy="1404701"/>
          </a:xfrm>
          <a:custGeom>
            <a:avLst/>
            <a:gdLst/>
            <a:ahLst/>
            <a:cxnLst/>
            <a:rect r="r" b="b" t="t" l="l"/>
            <a:pathLst>
              <a:path h="1404701" w="2362646">
                <a:moveTo>
                  <a:pt x="0" y="0"/>
                </a:moveTo>
                <a:lnTo>
                  <a:pt x="2362646" y="0"/>
                </a:lnTo>
                <a:lnTo>
                  <a:pt x="2362646" y="1404701"/>
                </a:lnTo>
                <a:lnTo>
                  <a:pt x="0" y="14047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6772825" y="-422617"/>
            <a:ext cx="2362646" cy="1404701"/>
          </a:xfrm>
          <a:custGeom>
            <a:avLst/>
            <a:gdLst/>
            <a:ahLst/>
            <a:cxnLst/>
            <a:rect r="r" b="b" t="t" l="l"/>
            <a:pathLst>
              <a:path h="1404701" w="2362646">
                <a:moveTo>
                  <a:pt x="2362646" y="0"/>
                </a:moveTo>
                <a:lnTo>
                  <a:pt x="0" y="0"/>
                </a:lnTo>
                <a:lnTo>
                  <a:pt x="0" y="1404701"/>
                </a:lnTo>
                <a:lnTo>
                  <a:pt x="2362646" y="1404701"/>
                </a:lnTo>
                <a:lnTo>
                  <a:pt x="23626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9416472"/>
            <a:ext cx="18288000" cy="870528"/>
          </a:xfrm>
          <a:custGeom>
            <a:avLst/>
            <a:gdLst/>
            <a:ahLst/>
            <a:cxnLst/>
            <a:rect r="r" b="b" t="t" l="l"/>
            <a:pathLst>
              <a:path h="870528" w="18288000">
                <a:moveTo>
                  <a:pt x="0" y="0"/>
                </a:moveTo>
                <a:lnTo>
                  <a:pt x="18288000" y="0"/>
                </a:lnTo>
                <a:lnTo>
                  <a:pt x="18288000" y="870528"/>
                </a:lnTo>
                <a:lnTo>
                  <a:pt x="0" y="870528"/>
                </a:lnTo>
                <a:lnTo>
                  <a:pt x="0" y="0"/>
                </a:lnTo>
                <a:close/>
              </a:path>
            </a:pathLst>
          </a:custGeom>
          <a:blipFill>
            <a:blip r:embed="rId4">
              <a:extLst>
                <a:ext uri="{96DAC541-7B7A-43D3-8B79-37D633B846F1}">
                  <asvg:svgBlip xmlns:asvg="http://schemas.microsoft.com/office/drawing/2016/SVG/main" r:embed="rId5"/>
                </a:ext>
              </a:extLst>
            </a:blip>
            <a:stretch>
              <a:fillRect l="0" t="-2000794" r="0" b="0"/>
            </a:stretch>
          </a:blipFill>
        </p:spPr>
      </p:sp>
      <p:sp>
        <p:nvSpPr>
          <p:cNvPr name="TextBox 9" id="9"/>
          <p:cNvSpPr txBox="true"/>
          <p:nvPr/>
        </p:nvSpPr>
        <p:spPr>
          <a:xfrm rot="0">
            <a:off x="3313291" y="842191"/>
            <a:ext cx="11661417" cy="925703"/>
          </a:xfrm>
          <a:prstGeom prst="rect">
            <a:avLst/>
          </a:prstGeom>
        </p:spPr>
        <p:txBody>
          <a:bodyPr anchor="t" rtlCol="false" tIns="0" lIns="0" bIns="0" rIns="0">
            <a:spAutoFit/>
          </a:bodyPr>
          <a:lstStyle/>
          <a:p>
            <a:pPr algn="ctr">
              <a:lnSpc>
                <a:spcPts val="6015"/>
              </a:lnSpc>
            </a:pPr>
            <a:r>
              <a:rPr lang="en-US" b="true" sz="6399">
                <a:solidFill>
                  <a:srgbClr val="15193E"/>
                </a:solidFill>
                <a:latin typeface="Codec Pro Ultra-Bold"/>
                <a:ea typeface="Codec Pro Ultra-Bold"/>
                <a:cs typeface="Codec Pro Ultra-Bold"/>
                <a:sym typeface="Codec Pro Ultra-Bold"/>
              </a:rPr>
              <a:t>CONCLUSIONES</a:t>
            </a:r>
          </a:p>
        </p:txBody>
      </p:sp>
      <p:sp>
        <p:nvSpPr>
          <p:cNvPr name="TextBox 10" id="10"/>
          <p:cNvSpPr txBox="true"/>
          <p:nvPr/>
        </p:nvSpPr>
        <p:spPr>
          <a:xfrm rot="0">
            <a:off x="1307847" y="2236463"/>
            <a:ext cx="15251454" cy="2646728"/>
          </a:xfrm>
          <a:prstGeom prst="rect">
            <a:avLst/>
          </a:prstGeom>
        </p:spPr>
        <p:txBody>
          <a:bodyPr anchor="t" rtlCol="false" tIns="0" lIns="0" bIns="0" rIns="0">
            <a:spAutoFit/>
          </a:bodyPr>
          <a:lstStyle/>
          <a:p>
            <a:pPr algn="just">
              <a:lnSpc>
                <a:spcPts val="4267"/>
              </a:lnSpc>
              <a:spcBef>
                <a:spcPct val="0"/>
              </a:spcBef>
            </a:pPr>
            <a:r>
              <a:rPr lang="en-US" sz="3048">
                <a:solidFill>
                  <a:srgbClr val="15193E"/>
                </a:solidFill>
                <a:latin typeface="Open Sans"/>
                <a:ea typeface="Open Sans"/>
                <a:cs typeface="Open Sans"/>
                <a:sym typeface="Open Sans"/>
              </a:rPr>
              <a:t>Se desarrolló con éxito un sistema basado en ESP32-C3 capaz de recibir datos de un módulo GPS, procesar las sentencias NMEA y mostrar al usuario información de geolocalización como coordenadas, altitud y velocidad. El sistema permite interactuar mediante UART e incluye indicadores LED que reflejan el estado del proceso de búsqueda y obtención de los datos.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5C69F5">
                <a:alpha val="100000"/>
              </a:srgbClr>
            </a:gs>
          </a:gsLst>
          <a:lin ang="2700000"/>
        </a:gradFill>
      </p:bgPr>
    </p:bg>
    <p:spTree>
      <p:nvGrpSpPr>
        <p:cNvPr id="1" name=""/>
        <p:cNvGrpSpPr/>
        <p:nvPr/>
      </p:nvGrpSpPr>
      <p:grpSpPr>
        <a:xfrm>
          <a:off x="0" y="0"/>
          <a:ext cx="0" cy="0"/>
          <a:chOff x="0" y="0"/>
          <a:chExt cx="0" cy="0"/>
        </a:xfrm>
      </p:grpSpPr>
      <p:grpSp>
        <p:nvGrpSpPr>
          <p:cNvPr name="Group 2" id="2"/>
          <p:cNvGrpSpPr/>
          <p:nvPr/>
        </p:nvGrpSpPr>
        <p:grpSpPr>
          <a:xfrm rot="0">
            <a:off x="2475560" y="1028700"/>
            <a:ext cx="14783740" cy="8229600"/>
            <a:chOff x="0" y="0"/>
            <a:chExt cx="3893660" cy="2167467"/>
          </a:xfrm>
        </p:grpSpPr>
        <p:sp>
          <p:nvSpPr>
            <p:cNvPr name="Freeform 3" id="3"/>
            <p:cNvSpPr/>
            <p:nvPr/>
          </p:nvSpPr>
          <p:spPr>
            <a:xfrm flipH="false" flipV="false" rot="0">
              <a:off x="0" y="0"/>
              <a:ext cx="3893660" cy="2167467"/>
            </a:xfrm>
            <a:custGeom>
              <a:avLst/>
              <a:gdLst/>
              <a:ahLst/>
              <a:cxnLst/>
              <a:rect r="r" b="b" t="t" l="l"/>
              <a:pathLst>
                <a:path h="2167467" w="3893660">
                  <a:moveTo>
                    <a:pt x="16758" y="0"/>
                  </a:moveTo>
                  <a:lnTo>
                    <a:pt x="3876903" y="0"/>
                  </a:lnTo>
                  <a:cubicBezTo>
                    <a:pt x="3886157" y="0"/>
                    <a:pt x="3893660" y="7503"/>
                    <a:pt x="3893660" y="16758"/>
                  </a:cubicBezTo>
                  <a:lnTo>
                    <a:pt x="3893660" y="2150709"/>
                  </a:lnTo>
                  <a:cubicBezTo>
                    <a:pt x="3893660" y="2159964"/>
                    <a:pt x="3886157" y="2167467"/>
                    <a:pt x="3876903" y="2167467"/>
                  </a:cubicBezTo>
                  <a:lnTo>
                    <a:pt x="16758" y="2167467"/>
                  </a:lnTo>
                  <a:cubicBezTo>
                    <a:pt x="7503" y="2167467"/>
                    <a:pt x="0" y="2159964"/>
                    <a:pt x="0" y="2150709"/>
                  </a:cubicBezTo>
                  <a:lnTo>
                    <a:pt x="0" y="16758"/>
                  </a:lnTo>
                  <a:cubicBezTo>
                    <a:pt x="0" y="7503"/>
                    <a:pt x="7503" y="0"/>
                    <a:pt x="16758" y="0"/>
                  </a:cubicBezTo>
                  <a:close/>
                </a:path>
              </a:pathLst>
            </a:custGeom>
            <a:solidFill>
              <a:srgbClr val="E4E5EC"/>
            </a:solidFill>
          </p:spPr>
        </p:sp>
        <p:sp>
          <p:nvSpPr>
            <p:cNvPr name="TextBox 4" id="4"/>
            <p:cNvSpPr txBox="true"/>
            <p:nvPr/>
          </p:nvSpPr>
          <p:spPr>
            <a:xfrm>
              <a:off x="0" y="-38100"/>
              <a:ext cx="3893660" cy="2205567"/>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673774" y="3655953"/>
            <a:ext cx="12387313" cy="961668"/>
          </a:xfrm>
          <a:prstGeom prst="rect">
            <a:avLst/>
          </a:prstGeom>
        </p:spPr>
        <p:txBody>
          <a:bodyPr anchor="t" rtlCol="false" tIns="0" lIns="0" bIns="0" rIns="0">
            <a:spAutoFit/>
          </a:bodyPr>
          <a:lstStyle/>
          <a:p>
            <a:pPr algn="ctr">
              <a:lnSpc>
                <a:spcPts val="6356"/>
              </a:lnSpc>
            </a:pPr>
            <a:r>
              <a:rPr lang="en-US" b="true" sz="6761">
                <a:solidFill>
                  <a:srgbClr val="15193E"/>
                </a:solidFill>
                <a:latin typeface="Codec Pro Ultra-Bold"/>
                <a:ea typeface="Codec Pro Ultra-Bold"/>
                <a:cs typeface="Codec Pro Ultra-Bold"/>
                <a:sym typeface="Codec Pro Ultra-Bold"/>
              </a:rPr>
              <a:t>GRACIAS!</a:t>
            </a:r>
          </a:p>
        </p:txBody>
      </p:sp>
      <p:sp>
        <p:nvSpPr>
          <p:cNvPr name="Freeform 6" id="6"/>
          <p:cNvSpPr/>
          <p:nvPr/>
        </p:nvSpPr>
        <p:spPr>
          <a:xfrm flipH="false" flipV="false" rot="0">
            <a:off x="1653028" y="535426"/>
            <a:ext cx="2726935" cy="1621287"/>
          </a:xfrm>
          <a:custGeom>
            <a:avLst/>
            <a:gdLst/>
            <a:ahLst/>
            <a:cxnLst/>
            <a:rect r="r" b="b" t="t" l="l"/>
            <a:pathLst>
              <a:path h="1621287" w="2726935">
                <a:moveTo>
                  <a:pt x="0" y="0"/>
                </a:moveTo>
                <a:lnTo>
                  <a:pt x="2726935" y="0"/>
                </a:lnTo>
                <a:lnTo>
                  <a:pt x="2726935" y="1621287"/>
                </a:lnTo>
                <a:lnTo>
                  <a:pt x="0" y="16212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571156" y="1610537"/>
            <a:ext cx="2599390" cy="1545456"/>
          </a:xfrm>
          <a:custGeom>
            <a:avLst/>
            <a:gdLst/>
            <a:ahLst/>
            <a:cxnLst/>
            <a:rect r="r" b="b" t="t" l="l"/>
            <a:pathLst>
              <a:path h="1545456" w="2599390">
                <a:moveTo>
                  <a:pt x="0" y="0"/>
                </a:moveTo>
                <a:lnTo>
                  <a:pt x="2599391" y="0"/>
                </a:lnTo>
                <a:lnTo>
                  <a:pt x="2599391" y="1545455"/>
                </a:lnTo>
                <a:lnTo>
                  <a:pt x="0" y="1545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2475560" y="4747730"/>
            <a:ext cx="14783740" cy="755649"/>
          </a:xfrm>
          <a:prstGeom prst="rect">
            <a:avLst/>
          </a:prstGeom>
        </p:spPr>
        <p:txBody>
          <a:bodyPr anchor="t" rtlCol="false" tIns="0" lIns="0" bIns="0" rIns="0">
            <a:spAutoFit/>
          </a:bodyPr>
          <a:lstStyle/>
          <a:p>
            <a:pPr algn="ctr">
              <a:lnSpc>
                <a:spcPts val="5600"/>
              </a:lnSpc>
              <a:spcBef>
                <a:spcPct val="0"/>
              </a:spcBef>
            </a:pPr>
            <a:r>
              <a:rPr lang="en-US" b="true" sz="4000">
                <a:solidFill>
                  <a:srgbClr val="000000"/>
                </a:solidFill>
                <a:latin typeface="Codec Pro Ultra-Bold"/>
                <a:ea typeface="Codec Pro Ultra-Bold"/>
                <a:cs typeface="Codec Pro Ultra-Bold"/>
                <a:sym typeface="Codec Pro Ultra-Bold"/>
              </a:rPr>
              <a:t>SE ACEPTAN PREGUNTAS </a:t>
            </a:r>
          </a:p>
        </p:txBody>
      </p:sp>
      <p:sp>
        <p:nvSpPr>
          <p:cNvPr name="Freeform 9" id="9"/>
          <p:cNvSpPr/>
          <p:nvPr/>
        </p:nvSpPr>
        <p:spPr>
          <a:xfrm flipH="true" flipV="true" rot="0">
            <a:off x="15682795" y="9177967"/>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16559302" y="8234368"/>
            <a:ext cx="2789693" cy="1658599"/>
          </a:xfrm>
          <a:custGeom>
            <a:avLst/>
            <a:gdLst/>
            <a:ahLst/>
            <a:cxnLst/>
            <a:rect r="r" b="b" t="t" l="l"/>
            <a:pathLst>
              <a:path h="1658599" w="2789693">
                <a:moveTo>
                  <a:pt x="2789692" y="1658599"/>
                </a:moveTo>
                <a:lnTo>
                  <a:pt x="0" y="1658599"/>
                </a:lnTo>
                <a:lnTo>
                  <a:pt x="0" y="0"/>
                </a:lnTo>
                <a:lnTo>
                  <a:pt x="2789692" y="0"/>
                </a:lnTo>
                <a:lnTo>
                  <a:pt x="2789692" y="165859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true" flipV="true" rot="0">
            <a:off x="16772825" y="9238143"/>
            <a:ext cx="2362646" cy="1404701"/>
          </a:xfrm>
          <a:custGeom>
            <a:avLst/>
            <a:gdLst/>
            <a:ahLst/>
            <a:cxnLst/>
            <a:rect r="r" b="b" t="t" l="l"/>
            <a:pathLst>
              <a:path h="1404701" w="2362646">
                <a:moveTo>
                  <a:pt x="2362646" y="1404701"/>
                </a:moveTo>
                <a:lnTo>
                  <a:pt x="0" y="1404701"/>
                </a:lnTo>
                <a:lnTo>
                  <a:pt x="0" y="0"/>
                </a:lnTo>
                <a:lnTo>
                  <a:pt x="2362646" y="0"/>
                </a:lnTo>
                <a:lnTo>
                  <a:pt x="2362646" y="1404701"/>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DAHC7n56OXI</dc:identifier>
  <dcterms:modified xsi:type="dcterms:W3CDTF">2011-08-01T06:04:30Z</dcterms:modified>
  <cp:revision>1</cp:revision>
  <dc:title>Trabajo final</dc:title>
</cp:coreProperties>
</file>